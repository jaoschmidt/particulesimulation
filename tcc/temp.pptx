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8"/>
  </p:handoutMasterIdLst>
  <p:sldIdLst>
    <p:sldId id="256" r:id="rId3"/>
    <p:sldId id="257" r:id="rId4"/>
    <p:sldId id="258" r:id="rId5"/>
    <p:sldId id="261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6"/>
        <p:guide pos="380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pt-PT" altLang="en-US"/>
              <a:t>Archetype1</a:t>
            </a:r>
            <a:endParaRPr lang="pt-PT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pt-PT" altLang="en-US">
                <a:sym typeface="+mn-ea"/>
              </a:rPr>
              <a:t>Archetype3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4255135" y="686435"/>
            <a:ext cx="1950720" cy="59289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87185" y="686435"/>
            <a:ext cx="1950720" cy="59289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119235" y="686435"/>
            <a:ext cx="1950720" cy="59289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>
                <a:sym typeface="+mn-ea"/>
              </a:rPr>
              <a:t>mp)</a:t>
            </a:r>
            <a:endParaRPr lang="pt-PT" altLang="en-US"/>
          </a:p>
          <a:p>
            <a:pPr algn="ctr"/>
            <a:endParaRPr lang="pt-PT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68960" y="1580515"/>
            <a:ext cx="11385550" cy="10763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68960" y="3234690"/>
            <a:ext cx="11385550" cy="10763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68960" y="4888865"/>
            <a:ext cx="11385550" cy="10763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702310" y="1765300"/>
            <a:ext cx="3234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Velocity Component </a:t>
            </a:r>
            <a:endParaRPr lang="pt-PT" altLang="en-US" sz="2000"/>
          </a:p>
        </p:txBody>
      </p:sp>
      <p:sp>
        <p:nvSpPr>
          <p:cNvPr id="12" name="Text Box 11"/>
          <p:cNvSpPr txBox="1"/>
          <p:nvPr/>
        </p:nvSpPr>
        <p:spPr>
          <a:xfrm>
            <a:off x="738505" y="3419475"/>
            <a:ext cx="2971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Transform Component</a:t>
            </a:r>
            <a:endParaRPr lang="pt-PT" altLang="en-US" sz="2000"/>
          </a:p>
        </p:txBody>
      </p:sp>
      <p:sp>
        <p:nvSpPr>
          <p:cNvPr id="13" name="Text Box 12"/>
          <p:cNvSpPr txBox="1"/>
          <p:nvPr/>
        </p:nvSpPr>
        <p:spPr>
          <a:xfrm>
            <a:off x="738505" y="5073650"/>
            <a:ext cx="33420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Sprite Component </a:t>
            </a:r>
            <a:endParaRPr lang="pt-PT" altLang="en-US" sz="2000"/>
          </a:p>
          <a:p>
            <a:r>
              <a:rPr lang="pt-PT" altLang="en-US" sz="2000"/>
              <a:t>(size, color and tiling factor)</a:t>
            </a:r>
            <a:endParaRPr lang="pt-PT" altLang="en-US" sz="2000"/>
          </a:p>
          <a:p>
            <a:endParaRPr lang="pt-PT" altLang="en-US" sz="2000"/>
          </a:p>
        </p:txBody>
      </p:sp>
      <p:sp>
        <p:nvSpPr>
          <p:cNvPr id="14" name="Text Box 13"/>
          <p:cNvSpPr txBox="1"/>
          <p:nvPr/>
        </p:nvSpPr>
        <p:spPr>
          <a:xfrm>
            <a:off x="4408170" y="9569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/>
              <a:t>Entity 1 (NPC)</a:t>
            </a:r>
            <a:endParaRPr lang="pt-PT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6839585" y="956945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/>
              <a:t>Entity 2 (Lamp)</a:t>
            </a:r>
            <a:endParaRPr lang="pt-PT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195435" y="956945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/>
              <a:t>Entity 3 (Rock)</a:t>
            </a:r>
            <a:endParaRPr lang="pt-PT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4413250" y="1919605"/>
            <a:ext cx="1640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(0.2,0.3,0.0)</a:t>
            </a:r>
            <a:endParaRPr lang="pt-PT" altLang="en-US" sz="2000"/>
          </a:p>
        </p:txBody>
      </p:sp>
      <p:sp>
        <p:nvSpPr>
          <p:cNvPr id="18" name="Text Box 17"/>
          <p:cNvSpPr txBox="1"/>
          <p:nvPr/>
        </p:nvSpPr>
        <p:spPr>
          <a:xfrm>
            <a:off x="6918960" y="1919605"/>
            <a:ext cx="1640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(1.2,0.1,0.0)</a:t>
            </a:r>
            <a:endParaRPr lang="pt-PT" altLang="en-US" sz="2000"/>
          </a:p>
        </p:txBody>
      </p:sp>
      <p:sp>
        <p:nvSpPr>
          <p:cNvPr id="19" name="Text Box 18"/>
          <p:cNvSpPr txBox="1"/>
          <p:nvPr/>
        </p:nvSpPr>
        <p:spPr>
          <a:xfrm>
            <a:off x="9354185" y="3573780"/>
            <a:ext cx="1640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(9.6,5.8,1.2)</a:t>
            </a:r>
            <a:endParaRPr lang="pt-PT" altLang="en-US" sz="2000"/>
          </a:p>
        </p:txBody>
      </p:sp>
      <p:sp>
        <p:nvSpPr>
          <p:cNvPr id="20" name="Text Box 19"/>
          <p:cNvSpPr txBox="1"/>
          <p:nvPr/>
        </p:nvSpPr>
        <p:spPr>
          <a:xfrm>
            <a:off x="6879590" y="3573780"/>
            <a:ext cx="1640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(2.8,5.7,3.8)</a:t>
            </a:r>
            <a:endParaRPr lang="pt-PT" altLang="en-US" sz="2000"/>
          </a:p>
        </p:txBody>
      </p:sp>
      <p:sp>
        <p:nvSpPr>
          <p:cNvPr id="21" name="Text Box 20"/>
          <p:cNvSpPr txBox="1"/>
          <p:nvPr/>
        </p:nvSpPr>
        <p:spPr>
          <a:xfrm>
            <a:off x="4404995" y="3573780"/>
            <a:ext cx="1640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(0.0,0.0,0.0)</a:t>
            </a:r>
            <a:endParaRPr lang="pt-PT" altLang="en-US" sz="2000"/>
          </a:p>
        </p:txBody>
      </p:sp>
      <p:sp>
        <p:nvSpPr>
          <p:cNvPr id="22" name="Text Box 21"/>
          <p:cNvSpPr txBox="1"/>
          <p:nvPr/>
        </p:nvSpPr>
        <p:spPr>
          <a:xfrm>
            <a:off x="4254500" y="5073650"/>
            <a:ext cx="20129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ym typeface="+mn-ea"/>
              </a:rPr>
              <a:t>(0.1,0.1)</a:t>
            </a:r>
            <a:endParaRPr lang="pt-PT" altLang="en-US" sz="2000"/>
          </a:p>
          <a:p>
            <a:r>
              <a:rPr lang="pt-PT" altLang="en-US" sz="2000">
                <a:sym typeface="+mn-ea"/>
              </a:rPr>
              <a:t>(1.,1.,1.,1.), 1.0</a:t>
            </a:r>
            <a:endParaRPr lang="pt-PT" altLang="en-US" sz="2000"/>
          </a:p>
        </p:txBody>
      </p:sp>
      <p:sp>
        <p:nvSpPr>
          <p:cNvPr id="23" name="Text Box 22"/>
          <p:cNvSpPr txBox="1"/>
          <p:nvPr/>
        </p:nvSpPr>
        <p:spPr>
          <a:xfrm>
            <a:off x="8996045" y="5073650"/>
            <a:ext cx="2418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ym typeface="+mn-ea"/>
              </a:rPr>
              <a:t>(0.5,0.5)</a:t>
            </a:r>
            <a:endParaRPr lang="pt-PT" altLang="en-US" sz="2000"/>
          </a:p>
          <a:p>
            <a:r>
              <a:rPr lang="pt-PT" altLang="en-US" sz="2000">
                <a:sym typeface="+mn-ea"/>
              </a:rPr>
              <a:t>(0.2,0.2,0.2,1.), 1.0</a:t>
            </a:r>
            <a:endParaRPr lang="pt-PT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s 9"/>
          <p:cNvSpPr/>
          <p:nvPr/>
        </p:nvSpPr>
        <p:spPr>
          <a:xfrm>
            <a:off x="-161925" y="2813050"/>
            <a:ext cx="7391400" cy="11233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-161925" y="1367790"/>
            <a:ext cx="7391400" cy="11233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727710" y="1480820"/>
            <a:ext cx="1751330" cy="9055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Transform Component</a:t>
            </a:r>
            <a:endParaRPr lang="pt-PT" altLang="en-US"/>
          </a:p>
        </p:txBody>
      </p:sp>
      <p:sp>
        <p:nvSpPr>
          <p:cNvPr id="3" name="Rounded Rectangle 2"/>
          <p:cNvSpPr/>
          <p:nvPr/>
        </p:nvSpPr>
        <p:spPr>
          <a:xfrm>
            <a:off x="3015615" y="1480820"/>
            <a:ext cx="1751330" cy="9055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>
                <a:sym typeface="+mn-ea"/>
              </a:rPr>
              <a:t>Transform Component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303520" y="1480820"/>
            <a:ext cx="1751330" cy="9055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>
                <a:sym typeface="+mn-ea"/>
              </a:rPr>
              <a:t>Transform Component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27710" y="2922270"/>
            <a:ext cx="1751330" cy="9055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Velocity Component</a:t>
            </a:r>
            <a:endParaRPr lang="pt-PT" altLang="en-US"/>
          </a:p>
        </p:txBody>
      </p:sp>
      <p:sp>
        <p:nvSpPr>
          <p:cNvPr id="6" name="Rounded Rectangle 5"/>
          <p:cNvSpPr/>
          <p:nvPr/>
        </p:nvSpPr>
        <p:spPr>
          <a:xfrm>
            <a:off x="3015615" y="2922270"/>
            <a:ext cx="1751330" cy="9055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>
                <a:sym typeface="+mn-ea"/>
              </a:rPr>
              <a:t>Velocity Component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03520" y="2922270"/>
            <a:ext cx="1751330" cy="9055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>
                <a:sym typeface="+mn-ea"/>
              </a:rPr>
              <a:t>Velocity Component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310370" y="1198880"/>
            <a:ext cx="2616200" cy="273748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9" idx="3"/>
          </p:cNvCxnSpPr>
          <p:nvPr/>
        </p:nvCxnSpPr>
        <p:spPr>
          <a:xfrm>
            <a:off x="7229475" y="1929765"/>
            <a:ext cx="1976120" cy="459740"/>
          </a:xfrm>
          <a:prstGeom prst="straightConnector1">
            <a:avLst/>
          </a:prstGeom>
          <a:ln w="38100"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</p:cNvCxnSpPr>
          <p:nvPr/>
        </p:nvCxnSpPr>
        <p:spPr>
          <a:xfrm flipV="1">
            <a:off x="7229475" y="2813050"/>
            <a:ext cx="1976120" cy="561975"/>
          </a:xfrm>
          <a:prstGeom prst="straightConnector1">
            <a:avLst/>
          </a:prstGeom>
          <a:ln w="38100"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7494270" y="1367790"/>
            <a:ext cx="1550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/>
              <a:t>Transform</a:t>
            </a:r>
            <a:endParaRPr lang="pt-PT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7591425" y="3375025"/>
            <a:ext cx="1550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/>
              <a:t>Veclocity	</a:t>
            </a:r>
            <a:endParaRPr lang="pt-PT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1101725" y="321945"/>
            <a:ext cx="1003935" cy="3956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Entity 1</a:t>
            </a:r>
            <a:endParaRPr lang="pt-PT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3389630" y="321945"/>
            <a:ext cx="1003935" cy="3956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Entity 2</a:t>
            </a:r>
            <a:endParaRPr lang="pt-PT" altLang="en-US"/>
          </a:p>
        </p:txBody>
      </p:sp>
      <p:sp>
        <p:nvSpPr>
          <p:cNvPr id="20" name="Rounded Rectangle 19"/>
          <p:cNvSpPr/>
          <p:nvPr/>
        </p:nvSpPr>
        <p:spPr>
          <a:xfrm>
            <a:off x="5677535" y="321945"/>
            <a:ext cx="1003935" cy="3956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Entity 3</a:t>
            </a:r>
            <a:endParaRPr lang="pt-PT" altLang="en-US"/>
          </a:p>
        </p:txBody>
      </p:sp>
      <p:cxnSp>
        <p:nvCxnSpPr>
          <p:cNvPr id="21" name="Straight Arrow Connector 20"/>
          <p:cNvCxnSpPr>
            <a:stCxn id="18" idx="2"/>
            <a:endCxn id="2" idx="0"/>
          </p:cNvCxnSpPr>
          <p:nvPr/>
        </p:nvCxnSpPr>
        <p:spPr>
          <a:xfrm flipH="1">
            <a:off x="1603375" y="717550"/>
            <a:ext cx="635" cy="7632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891280" y="717550"/>
            <a:ext cx="635" cy="7632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6178550" y="717550"/>
            <a:ext cx="635" cy="7632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" idx="2"/>
            <a:endCxn id="5" idx="0"/>
          </p:cNvCxnSpPr>
          <p:nvPr/>
        </p:nvCxnSpPr>
        <p:spPr>
          <a:xfrm>
            <a:off x="1603375" y="2386330"/>
            <a:ext cx="0" cy="53594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891280" y="2386330"/>
            <a:ext cx="0" cy="53594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179185" y="2386330"/>
            <a:ext cx="0" cy="53594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 Box 26"/>
          <p:cNvSpPr txBox="1"/>
          <p:nvPr/>
        </p:nvSpPr>
        <p:spPr>
          <a:xfrm>
            <a:off x="9547225" y="3244850"/>
            <a:ext cx="2143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/>
              <a:t>Movement System</a:t>
            </a:r>
            <a:endParaRPr lang="pt-PT" altLang="en-US"/>
          </a:p>
        </p:txBody>
      </p:sp>
      <p:sp>
        <p:nvSpPr>
          <p:cNvPr id="28" name="Text Box 27"/>
          <p:cNvSpPr txBox="1"/>
          <p:nvPr/>
        </p:nvSpPr>
        <p:spPr>
          <a:xfrm>
            <a:off x="9431655" y="2306320"/>
            <a:ext cx="2406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 = V * dt + T</a:t>
            </a:r>
            <a:endParaRPr lang="pt-PT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850900" y="111252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Transform</a:t>
            </a:r>
            <a:endParaRPr lang="pt-PT" altLang="en-US"/>
          </a:p>
        </p:txBody>
      </p:sp>
      <p:sp>
        <p:nvSpPr>
          <p:cNvPr id="3" name="Rectangles 2"/>
          <p:cNvSpPr/>
          <p:nvPr/>
        </p:nvSpPr>
        <p:spPr>
          <a:xfrm>
            <a:off x="850900" y="303847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Velocity</a:t>
            </a:r>
            <a:endParaRPr lang="pt-PT" altLang="en-US"/>
          </a:p>
        </p:txBody>
      </p:sp>
      <p:sp>
        <p:nvSpPr>
          <p:cNvPr id="4" name="Rectangles 3"/>
          <p:cNvSpPr/>
          <p:nvPr/>
        </p:nvSpPr>
        <p:spPr>
          <a:xfrm>
            <a:off x="850900" y="496443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Sprite</a:t>
            </a:r>
            <a:endParaRPr lang="pt-PT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850900" y="111252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Transform</a:t>
            </a:r>
            <a:endParaRPr lang="pt-PT" altLang="en-US"/>
          </a:p>
        </p:txBody>
      </p:sp>
      <p:sp>
        <p:nvSpPr>
          <p:cNvPr id="3" name="Rectangles 2"/>
          <p:cNvSpPr/>
          <p:nvPr/>
        </p:nvSpPr>
        <p:spPr>
          <a:xfrm>
            <a:off x="850900" y="303847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Velocity</a:t>
            </a:r>
            <a:endParaRPr lang="pt-PT" altLang="en-US"/>
          </a:p>
        </p:txBody>
      </p:sp>
      <p:sp>
        <p:nvSpPr>
          <p:cNvPr id="4" name="Rectangles 3"/>
          <p:cNvSpPr/>
          <p:nvPr/>
        </p:nvSpPr>
        <p:spPr>
          <a:xfrm>
            <a:off x="850900" y="496443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Sprite</a:t>
            </a:r>
            <a:endParaRPr lang="pt-PT" altLang="en-US"/>
          </a:p>
        </p:txBody>
      </p:sp>
      <p:sp>
        <p:nvSpPr>
          <p:cNvPr id="5" name="Rectangles 4"/>
          <p:cNvSpPr/>
          <p:nvPr/>
        </p:nvSpPr>
        <p:spPr>
          <a:xfrm>
            <a:off x="4464050" y="57594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Transform</a:t>
            </a:r>
            <a:endParaRPr lang="pt-PT" altLang="en-US"/>
          </a:p>
        </p:txBody>
      </p:sp>
      <p:sp>
        <p:nvSpPr>
          <p:cNvPr id="6" name="Rectangles 5"/>
          <p:cNvSpPr/>
          <p:nvPr/>
        </p:nvSpPr>
        <p:spPr>
          <a:xfrm>
            <a:off x="4464050" y="274447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Transform</a:t>
            </a:r>
            <a:endParaRPr lang="pt-PT" altLang="en-US"/>
          </a:p>
        </p:txBody>
      </p:sp>
      <p:sp>
        <p:nvSpPr>
          <p:cNvPr id="7" name="Rectangles 6"/>
          <p:cNvSpPr/>
          <p:nvPr/>
        </p:nvSpPr>
        <p:spPr>
          <a:xfrm>
            <a:off x="4464050" y="352552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Sprite</a:t>
            </a:r>
            <a:endParaRPr lang="pt-PT" altLang="en-US"/>
          </a:p>
        </p:txBody>
      </p:sp>
      <p:sp>
        <p:nvSpPr>
          <p:cNvPr id="8" name="Rectangles 7"/>
          <p:cNvSpPr/>
          <p:nvPr/>
        </p:nvSpPr>
        <p:spPr>
          <a:xfrm>
            <a:off x="4464050" y="135636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Velocity</a:t>
            </a:r>
            <a:endParaRPr lang="pt-PT" altLang="en-US"/>
          </a:p>
        </p:txBody>
      </p:sp>
      <p:sp>
        <p:nvSpPr>
          <p:cNvPr id="9" name="Rectangles 8"/>
          <p:cNvSpPr/>
          <p:nvPr/>
        </p:nvSpPr>
        <p:spPr>
          <a:xfrm>
            <a:off x="4464050" y="491299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Velocity</a:t>
            </a:r>
            <a:endParaRPr lang="pt-PT" altLang="en-US"/>
          </a:p>
        </p:txBody>
      </p:sp>
      <p:sp>
        <p:nvSpPr>
          <p:cNvPr id="10" name="Rectangles 9"/>
          <p:cNvSpPr/>
          <p:nvPr/>
        </p:nvSpPr>
        <p:spPr>
          <a:xfrm>
            <a:off x="4464050" y="569404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Sprite</a:t>
            </a:r>
            <a:endParaRPr lang="pt-PT" altLang="en-US"/>
          </a:p>
        </p:txBody>
      </p:sp>
      <p:sp>
        <p:nvSpPr>
          <p:cNvPr id="11" name="Rectangles 10"/>
          <p:cNvSpPr/>
          <p:nvPr/>
        </p:nvSpPr>
        <p:spPr>
          <a:xfrm>
            <a:off x="7976235" y="274510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Velocity</a:t>
            </a:r>
            <a:endParaRPr lang="pt-PT" altLang="en-US"/>
          </a:p>
        </p:txBody>
      </p:sp>
      <p:sp>
        <p:nvSpPr>
          <p:cNvPr id="12" name="Rectangles 11"/>
          <p:cNvSpPr/>
          <p:nvPr/>
        </p:nvSpPr>
        <p:spPr>
          <a:xfrm>
            <a:off x="7976235" y="3526155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Sprite</a:t>
            </a:r>
            <a:endParaRPr lang="pt-PT" altLang="en-US"/>
          </a:p>
        </p:txBody>
      </p:sp>
      <p:sp>
        <p:nvSpPr>
          <p:cNvPr id="13" name="Rectangles 12"/>
          <p:cNvSpPr/>
          <p:nvPr/>
        </p:nvSpPr>
        <p:spPr>
          <a:xfrm>
            <a:off x="7976235" y="1964690"/>
            <a:ext cx="2006600" cy="78041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Transform</a:t>
            </a:r>
            <a:endParaRPr lang="pt-PT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WPS Presentation</Application>
  <PresentationFormat>宽屏</PresentationFormat>
  <Paragraphs>89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微软雅黑</vt:lpstr>
      <vt:lpstr>Arial Unicode MS</vt:lpstr>
      <vt:lpstr>Arial Black</vt:lpstr>
      <vt:lpstr>宋体</vt:lpstr>
      <vt:lpstr>DaddyTimeMono NF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jaoschmidt</dc:creator>
  <cp:lastModifiedBy>jaoschmidt</cp:lastModifiedBy>
  <cp:revision>15</cp:revision>
  <dcterms:created xsi:type="dcterms:W3CDTF">2024-12-13T03:30:51Z</dcterms:created>
  <dcterms:modified xsi:type="dcterms:W3CDTF">2024-12-13T03:30:51Z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