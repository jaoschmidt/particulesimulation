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33"/>
  </p:handoutMasterIdLst>
  <p:sldIdLst>
    <p:sldId id="256" r:id="rId3"/>
    <p:sldId id="257" r:id="rId4"/>
    <p:sldId id="259" r:id="rId5"/>
    <p:sldId id="260" r:id="rId6"/>
    <p:sldId id="261" r:id="rId7"/>
    <p:sldId id="262" r:id="rId8"/>
    <p:sldId id="263" r:id="rId9"/>
    <p:sldId id="265" r:id="rId10"/>
    <p:sldId id="266" r:id="rId11"/>
    <p:sldId id="267" r:id="rId12"/>
    <p:sldId id="269" r:id="rId13"/>
    <p:sldId id="270" r:id="rId14"/>
    <p:sldId id="271" r:id="rId15"/>
    <p:sldId id="273" r:id="rId16"/>
    <p:sldId id="274" r:id="rId17"/>
    <p:sldId id="275" r:id="rId18"/>
    <p:sldId id="276" r:id="rId19"/>
    <p:sldId id="277" r:id="rId21"/>
    <p:sldId id="278" r:id="rId22"/>
    <p:sldId id="280" r:id="rId23"/>
    <p:sldId id="279" r:id="rId24"/>
    <p:sldId id="282" r:id="rId25"/>
    <p:sldId id="281" r:id="rId26"/>
    <p:sldId id="283" r:id="rId27"/>
    <p:sldId id="285" r:id="rId28"/>
    <p:sldId id="286" r:id="rId29"/>
    <p:sldId id="288" r:id="rId30"/>
    <p:sldId id="289" r:id="rId31"/>
    <p:sldId id="290" r:id="rId32"/>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B2B2B2"/>
    <a:srgbClr val="202020"/>
    <a:srgbClr val="323232"/>
    <a:srgbClr val="CC3300"/>
    <a:srgbClr val="CC0000"/>
    <a:srgbClr val="FF3300"/>
    <a:srgbClr val="990000"/>
    <a:srgbClr val="FF8D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216"/>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handoutMaster" Target="handoutMasters/handoutMaster1.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pt-PT" altLang="en-US"/>
              <a:t>OBS: objetos ainda podem ser acessados completamente, mais tem um nível de complexidade a mais</a:t>
            </a:r>
            <a:endParaRPr lang="pt-PT"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92000" cy="6597650"/>
          </a:xfrm>
          <a:prstGeom prst="rect">
            <a:avLst/>
          </a:prstGeom>
          <a:noFill/>
          <a:ln w="9525">
            <a:noFill/>
          </a:ln>
        </p:spPr>
      </p:pic>
      <p:sp>
        <p:nvSpPr>
          <p:cNvPr id="2051" name="Rectangle 3"/>
          <p:cNvSpPr>
            <a:spLocks noGrp="1" noChangeArrowheads="1"/>
          </p:cNvSpPr>
          <p:nvPr>
            <p:ph type="ctrTitle"/>
          </p:nvPr>
        </p:nvSpPr>
        <p:spPr>
          <a:xfrm>
            <a:off x="624417" y="620713"/>
            <a:ext cx="10943167"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1843088"/>
            <a:ext cx="10949517" cy="981075"/>
          </a:xfrm>
        </p:spPr>
        <p:txBody>
          <a:bodyPr/>
          <a:lstStyle>
            <a:lvl1pPr marL="0" indent="0">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760FBDFE-C587-4B4C-A407-44438C67B59E}" type="datetimeFigureOut">
              <a:rPr lang="zh-CN" altLang="en-US" smtClean="0"/>
            </a:fld>
            <a:endParaRPr lang="zh-CN" alt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zh-CN" alt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760FBDFE-C587-4B4C-A407-44438C67B59E}" type="datetimeFigureOut">
              <a:rPr lang="zh-CN" altLang="en-US" smtClean="0"/>
            </a:fld>
            <a:endParaRPr lang="zh-CN" altLang="en-US"/>
          </a:p>
        </p:txBody>
      </p:sp>
      <p:sp>
        <p:nvSpPr>
          <p:cNvPr id="5" name="Footer Placeholder 4"/>
          <p:cNvSpPr>
            <a:spLocks noGrp="1"/>
          </p:cNvSpPr>
          <p:nvPr>
            <p:ph type="ftr" sz="quarter" idx="11"/>
          </p:nvPr>
        </p:nvSpPr>
        <p:spPr/>
        <p:txBody>
          <a:bodyPr/>
          <a:p>
            <a:endParaRPr lang="zh-CN" altLang="en-US"/>
          </a:p>
        </p:txBody>
      </p:sp>
      <p:sp>
        <p:nvSpPr>
          <p:cNvPr id="6" name="Slide Number Placeholder 5"/>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760FBDFE-C587-4B4C-A407-44438C67B59E}" type="datetimeFigureOut">
              <a:rPr lang="zh-CN" altLang="en-US" smtClean="0"/>
            </a:fld>
            <a:endParaRPr lang="zh-CN" altLang="en-US"/>
          </a:p>
        </p:txBody>
      </p:sp>
      <p:sp>
        <p:nvSpPr>
          <p:cNvPr id="5" name="Footer Placeholder 4"/>
          <p:cNvSpPr>
            <a:spLocks noGrp="1"/>
          </p:cNvSpPr>
          <p:nvPr>
            <p:ph type="ftr" sz="quarter" idx="11"/>
          </p:nvPr>
        </p:nvSpPr>
        <p:spPr/>
        <p:txBody>
          <a:bodyPr/>
          <a:p>
            <a:endParaRPr lang="zh-CN" altLang="en-US"/>
          </a:p>
        </p:txBody>
      </p:sp>
      <p:sp>
        <p:nvSpPr>
          <p:cNvPr id="6" name="Slide Number Placeholder 5"/>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760FBDFE-C587-4B4C-A407-44438C67B59E}" type="datetimeFigureOut">
              <a:rPr lang="zh-CN" altLang="en-US" smtClean="0"/>
            </a:fld>
            <a:endParaRPr lang="zh-CN" altLang="en-US"/>
          </a:p>
        </p:txBody>
      </p:sp>
      <p:sp>
        <p:nvSpPr>
          <p:cNvPr id="6" name="Footer Placeholder 5"/>
          <p:cNvSpPr>
            <a:spLocks noGrp="1"/>
          </p:cNvSpPr>
          <p:nvPr>
            <p:ph type="ftr" sz="quarter" idx="11"/>
          </p:nvPr>
        </p:nvSpPr>
        <p:spPr/>
        <p:txBody>
          <a:bodyPr/>
          <a:p>
            <a:endParaRPr lang="zh-CN" altLang="en-US"/>
          </a:p>
        </p:txBody>
      </p:sp>
      <p:sp>
        <p:nvSpPr>
          <p:cNvPr id="7" name="Slide Number Placeholder 6"/>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760FBDFE-C587-4B4C-A407-44438C67B59E}" type="datetimeFigureOut">
              <a:rPr lang="zh-CN" altLang="en-US" smtClean="0"/>
            </a:fld>
            <a:endParaRPr lang="zh-CN" altLang="en-US"/>
          </a:p>
        </p:txBody>
      </p:sp>
      <p:sp>
        <p:nvSpPr>
          <p:cNvPr id="8" name="Footer Placeholder 7"/>
          <p:cNvSpPr>
            <a:spLocks noGrp="1"/>
          </p:cNvSpPr>
          <p:nvPr>
            <p:ph type="ftr" sz="quarter" idx="11"/>
          </p:nvPr>
        </p:nvSpPr>
        <p:spPr/>
        <p:txBody>
          <a:bodyPr/>
          <a:p>
            <a:endParaRPr lang="zh-CN" altLang="en-US"/>
          </a:p>
        </p:txBody>
      </p:sp>
      <p:sp>
        <p:nvSpPr>
          <p:cNvPr id="9" name="Slide Number Placeholder 8"/>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760FBDFE-C587-4B4C-A407-44438C67B59E}" type="datetimeFigureOut">
              <a:rPr lang="zh-CN" altLang="en-US" smtClean="0"/>
            </a:fld>
            <a:endParaRPr lang="zh-CN" altLang="en-US"/>
          </a:p>
        </p:txBody>
      </p:sp>
      <p:sp>
        <p:nvSpPr>
          <p:cNvPr id="4" name="Footer Placeholder 3"/>
          <p:cNvSpPr>
            <a:spLocks noGrp="1"/>
          </p:cNvSpPr>
          <p:nvPr>
            <p:ph type="ftr" sz="quarter" idx="11"/>
          </p:nvPr>
        </p:nvSpPr>
        <p:spPr/>
        <p:txBody>
          <a:bodyPr/>
          <a:p>
            <a:endParaRPr lang="zh-CN" altLang="en-US"/>
          </a:p>
        </p:txBody>
      </p:sp>
      <p:sp>
        <p:nvSpPr>
          <p:cNvPr id="5" name="Slide Number Placeholder 4"/>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760FBDFE-C587-4B4C-A407-44438C67B59E}" type="datetimeFigureOut">
              <a:rPr lang="zh-CN" altLang="en-US" smtClean="0"/>
            </a:fld>
            <a:endParaRPr lang="zh-CN" altLang="en-US"/>
          </a:p>
        </p:txBody>
      </p:sp>
      <p:sp>
        <p:nvSpPr>
          <p:cNvPr id="3" name="Footer Placeholder 2"/>
          <p:cNvSpPr>
            <a:spLocks noGrp="1"/>
          </p:cNvSpPr>
          <p:nvPr>
            <p:ph type="ftr" sz="quarter" idx="11"/>
          </p:nvPr>
        </p:nvSpPr>
        <p:spPr/>
        <p:txBody>
          <a:bodyPr/>
          <a:p>
            <a:endParaRPr lang="zh-CN" altLang="en-US"/>
          </a:p>
        </p:txBody>
      </p:sp>
      <p:sp>
        <p:nvSpPr>
          <p:cNvPr id="4" name="Slide Number Placeholder 3"/>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9EFD9D74-47D9-4702-A33C-335B63B48DBF}" type="datetimeFigureOut">
              <a:rPr lang="zh-CN" altLang="en-US" smtClean="0"/>
            </a:fld>
            <a:endParaRPr lang="zh-CN" altLang="en-US" dirty="0"/>
          </a:p>
        </p:txBody>
      </p:sp>
      <p:sp>
        <p:nvSpPr>
          <p:cNvPr id="6" name="Footer Placeholder 5"/>
          <p:cNvSpPr>
            <a:spLocks noGrp="1"/>
          </p:cNvSpPr>
          <p:nvPr>
            <p:ph type="ftr" sz="quarter" idx="11"/>
          </p:nvPr>
        </p:nvSpPr>
        <p:spPr/>
        <p:txBody>
          <a:bodyPr/>
          <a:p>
            <a:endParaRPr lang="zh-CN" altLang="en-US" dirty="0"/>
          </a:p>
        </p:txBody>
      </p:sp>
      <p:sp>
        <p:nvSpPr>
          <p:cNvPr id="7" name="Slide Number Placeholder 6"/>
          <p:cNvSpPr>
            <a:spLocks noGrp="1"/>
          </p:cNvSpPr>
          <p:nvPr>
            <p:ph type="sldNum" sz="quarter" idx="12"/>
          </p:nvPr>
        </p:nvSpPr>
        <p:spPr/>
        <p:txBody>
          <a:bodyPr/>
          <a:p>
            <a:fld id="{FABC47A4-756D-490B-A52F-7D9E2C9FC05F}" type="slidenum">
              <a:rPr lang="zh-CN" altLang="en-US" smtClean="0"/>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2AEB82A-E188-4EC3-A976-6ACB2D5576C4}"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760FBDFE-C587-4B4C-A407-44438C67B59E}" type="datetimeFigureOut">
              <a:rPr lang="zh-CN" altLang="en-US" smtClean="0"/>
            </a:fld>
            <a:endParaRPr lang="zh-CN" altLang="en-US"/>
          </a:p>
        </p:txBody>
      </p:sp>
      <p:sp>
        <p:nvSpPr>
          <p:cNvPr id="5" name="Footer Placeholder 4"/>
          <p:cNvSpPr>
            <a:spLocks noGrp="1"/>
          </p:cNvSpPr>
          <p:nvPr>
            <p:ph type="ftr" sz="quarter" idx="11"/>
          </p:nvPr>
        </p:nvSpPr>
        <p:spPr/>
        <p:txBody>
          <a:bodyPr/>
          <a:p>
            <a:endParaRPr lang="zh-CN" altLang="en-US"/>
          </a:p>
        </p:txBody>
      </p:sp>
      <p:sp>
        <p:nvSpPr>
          <p:cNvPr id="6" name="Slide Number Placeholder 5"/>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760FBDFE-C587-4B4C-A407-44438C67B59E}" type="datetimeFigureOut">
              <a:rPr lang="zh-CN" altLang="en-US" smtClean="0"/>
            </a:fld>
            <a:endParaRPr lang="zh-CN" alt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zh-CN" alt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56515" y="95885"/>
            <a:ext cx="11819255" cy="1670685"/>
          </a:xfrm>
        </p:spPr>
        <p:txBody>
          <a:bodyPr/>
          <a:p>
            <a:r>
              <a:rPr lang="en-US" sz="4800">
                <a:solidFill>
                  <a:schemeClr val="tx1"/>
                </a:solidFill>
                <a:effectLst>
                  <a:outerShdw blurRad="38100" dist="19050" dir="2700000" algn="tl" rotWithShape="0">
                    <a:schemeClr val="dk1">
                      <a:alpha val="40000"/>
                    </a:schemeClr>
                  </a:outerShdw>
                </a:effectLst>
              </a:rPr>
              <a:t>Contributions to Entity Component System and Scripting in Game Engines</a:t>
            </a:r>
            <a:r>
              <a:rPr lang="en-US" sz="6000">
                <a:solidFill>
                  <a:schemeClr val="tx1"/>
                </a:solidFill>
                <a:effectLst>
                  <a:outerShdw blurRad="38100" dist="19050" dir="2700000" algn="tl" rotWithShape="0">
                    <a:schemeClr val="dk1">
                      <a:alpha val="40000"/>
                    </a:schemeClr>
                  </a:outerShdw>
                </a:effectLst>
              </a:rPr>
              <a:t> </a:t>
            </a:r>
            <a:endParaRPr lang="en-US" sz="6000">
              <a:solidFill>
                <a:schemeClr val="tx1"/>
              </a:solidFill>
              <a:effectLst>
                <a:outerShdw blurRad="38100" dist="19050" dir="2700000" algn="tl" rotWithShape="0">
                  <a:schemeClr val="dk1">
                    <a:alpha val="40000"/>
                  </a:schemeClr>
                </a:outerShdw>
              </a:effectLst>
            </a:endParaRPr>
          </a:p>
        </p:txBody>
      </p:sp>
      <p:sp>
        <p:nvSpPr>
          <p:cNvPr id="3" name="Subtitle 2"/>
          <p:cNvSpPr>
            <a:spLocks noGrp="1"/>
          </p:cNvSpPr>
          <p:nvPr>
            <p:ph type="subTitle" idx="1"/>
          </p:nvPr>
        </p:nvSpPr>
        <p:spPr>
          <a:xfrm>
            <a:off x="56515" y="1867535"/>
            <a:ext cx="9429115" cy="981075"/>
          </a:xfrm>
        </p:spPr>
        <p:txBody>
          <a:bodyPr/>
          <a:p>
            <a:r>
              <a:rPr lang="en-US" sz="3600">
                <a:solidFill>
                  <a:schemeClr val="tx1"/>
                </a:solidFill>
                <a:effectLst>
                  <a:outerShdw blurRad="38100" dist="19050" dir="2700000" algn="tl" rotWithShape="0">
                    <a:schemeClr val="dk1">
                      <a:alpha val="40000"/>
                    </a:schemeClr>
                  </a:outerShdw>
                </a:effectLst>
                <a:sym typeface="+mn-ea"/>
              </a:rPr>
              <a:t>A Practical Approach to Core Mechanics</a:t>
            </a:r>
            <a:endParaRPr lang="en-US" sz="3600">
              <a:solidFill>
                <a:schemeClr val="tx1"/>
              </a:solidFill>
              <a:effectLst>
                <a:outerShdw blurRad="38100" dist="19050" dir="2700000" algn="tl" rotWithShape="0">
                  <a:schemeClr val="dk1">
                    <a:alpha val="40000"/>
                  </a:schemeClr>
                </a:outerShdw>
              </a:effectLst>
              <a:sym typeface="+mn-ea"/>
            </a:endParaRPr>
          </a:p>
          <a:p>
            <a:endParaRPr lang="en-US" sz="3600">
              <a:solidFill>
                <a:schemeClr val="tx1"/>
              </a:solidFill>
              <a:effectLst>
                <a:outerShdw blurRad="38100" dist="19050" dir="2700000" algn="tl" rotWithShape="0">
                  <a:schemeClr val="dk1">
                    <a:alpha val="40000"/>
                  </a:schemeClr>
                </a:outerShdw>
              </a:effectLst>
              <a:sym typeface="+mn-ea"/>
            </a:endParaRPr>
          </a:p>
          <a:p>
            <a:endParaRPr lang="en-US" sz="3600">
              <a:solidFill>
                <a:schemeClr val="tx1"/>
              </a:solidFill>
              <a:effectLst>
                <a:outerShdw blurRad="38100" dist="19050" dir="2700000" algn="tl" rotWithShape="0">
                  <a:schemeClr val="dk1">
                    <a:alpha val="40000"/>
                  </a:schemeClr>
                </a:outerShdw>
              </a:effectLst>
              <a:sym typeface="+mn-ea"/>
            </a:endParaRPr>
          </a:p>
        </p:txBody>
      </p:sp>
      <p:sp>
        <p:nvSpPr>
          <p:cNvPr id="4" name="Text Box 3"/>
          <p:cNvSpPr txBox="1"/>
          <p:nvPr/>
        </p:nvSpPr>
        <p:spPr>
          <a:xfrm>
            <a:off x="5137150" y="5121910"/>
            <a:ext cx="6738620" cy="1568450"/>
          </a:xfrm>
          <a:prstGeom prst="rect">
            <a:avLst/>
          </a:prstGeom>
          <a:noFill/>
        </p:spPr>
        <p:txBody>
          <a:bodyPr wrap="square" rtlCol="0">
            <a:spAutoFit/>
          </a:bodyPr>
          <a:p>
            <a:r>
              <a:rPr lang="pt-PT" altLang="en-US" sz="3200">
                <a:sym typeface="+mn-ea"/>
              </a:rPr>
              <a:t>João Henrique Schmidt de Carvalho</a:t>
            </a:r>
            <a:endParaRPr lang="pt-PT" altLang="en-US" sz="3200">
              <a:sym typeface="+mn-ea"/>
            </a:endParaRPr>
          </a:p>
          <a:p>
            <a:r>
              <a:rPr lang="pt-PT" altLang="en-US" sz="3200"/>
              <a:t>Advisor: Geraldo Xexeo</a:t>
            </a:r>
            <a:endParaRPr lang="en-US" sz="3200"/>
          </a:p>
          <a:p>
            <a:endParaRPr lang="en-US"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9580" y="304165"/>
            <a:ext cx="87344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Introduction</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49580" y="1266825"/>
            <a:ext cx="11200765" cy="4523105"/>
          </a:xfrm>
          <a:prstGeom prst="rect">
            <a:avLst/>
          </a:prstGeom>
          <a:noFill/>
        </p:spPr>
        <p:txBody>
          <a:bodyPr wrap="square" rtlCol="0">
            <a:spAutoFit/>
          </a:bodyPr>
          <a:p>
            <a:pPr algn="l"/>
            <a:r>
              <a:rPr lang="en-US" sz="3200"/>
              <a:t>One of the central architectural designs of most modern game engines is the Entity Component System (ECS)</a:t>
            </a:r>
            <a:endParaRPr lang="en-US" sz="3200"/>
          </a:p>
          <a:p>
            <a:pPr algn="l"/>
            <a:endParaRPr lang="en-US" sz="3200"/>
          </a:p>
          <a:p>
            <a:pPr algn="l"/>
            <a:r>
              <a:rPr lang="pt-PT" altLang="en-US" sz="3200"/>
              <a:t>It provides a extremly scalable but difficult</a:t>
            </a:r>
            <a:r>
              <a:rPr lang="en-US" sz="3200"/>
              <a:t>, data-driven approach to manage game entities and behaviors</a:t>
            </a:r>
            <a:r>
              <a:rPr lang="pt-PT" altLang="en-US" sz="3200"/>
              <a:t>.</a:t>
            </a:r>
            <a:endParaRPr lang="en-US" sz="3200"/>
          </a:p>
          <a:p>
            <a:pPr algn="l"/>
            <a:endParaRPr lang="en-US" sz="3200"/>
          </a:p>
          <a:p>
            <a:pPr algn="l"/>
            <a:r>
              <a:rPr lang="en-US" sz="3200"/>
              <a:t>Alongside </a:t>
            </a:r>
            <a:r>
              <a:rPr lang="pt-PT" altLang="en-US" sz="3200"/>
              <a:t>it</a:t>
            </a:r>
            <a:r>
              <a:rPr lang="en-US" sz="3200"/>
              <a:t>, scripting plays a pivotal role in enabling dynamic interaction with the engine with interpreted languages, such as Python, Lua, </a:t>
            </a:r>
            <a:r>
              <a:rPr lang="pt-PT" altLang="en-US" sz="3200"/>
              <a:t>JS</a:t>
            </a:r>
            <a:r>
              <a:rPr lang="en-US" sz="3200"/>
              <a:t>, among others.</a:t>
            </a:r>
            <a:endParaRPr lang="en-US" sz="3200"/>
          </a:p>
        </p:txBody>
      </p:sp>
      <p:sp>
        <p:nvSpPr>
          <p:cNvPr id="4" name="Text Box 3"/>
          <p:cNvSpPr txBox="1"/>
          <p:nvPr/>
        </p:nvSpPr>
        <p:spPr>
          <a:xfrm>
            <a:off x="11383645" y="304165"/>
            <a:ext cx="492125" cy="368300"/>
          </a:xfrm>
          <a:prstGeom prst="rect">
            <a:avLst/>
          </a:prstGeom>
          <a:noFill/>
        </p:spPr>
        <p:txBody>
          <a:bodyPr wrap="square" rtlCol="0">
            <a:spAutoFit/>
          </a:bodyPr>
          <a:p>
            <a:r>
              <a:rPr lang="pt-PT" altLang="en-US"/>
              <a:t>1</a:t>
            </a:r>
            <a:endParaRPr lang="pt-PT"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Direct approach: Example</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49580" y="1412875"/>
            <a:ext cx="5105400" cy="48310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800">
                <a:solidFill>
                  <a:srgbClr val="FF6600"/>
                </a:solidFill>
              </a:rPr>
              <a:t>class </a:t>
            </a:r>
            <a:r>
              <a:rPr lang="en-US" sz="2800"/>
              <a:t>MeshWithAudio </a:t>
            </a:r>
            <a:r>
              <a:rPr lang="en-US" sz="2800">
                <a:solidFill>
                  <a:srgbClr val="FF6600"/>
                </a:solidFill>
              </a:rPr>
              <a:t>extends </a:t>
            </a:r>
            <a:r>
              <a:rPr lang="en-US" sz="2800"/>
              <a:t>Entity </a:t>
            </a:r>
            <a:r>
              <a:rPr lang="en-US" sz="2800">
                <a:solidFill>
                  <a:srgbClr val="0070C0"/>
                </a:solidFill>
              </a:rPr>
              <a:t>{</a:t>
            </a:r>
            <a:endParaRPr lang="en-US" sz="2800">
              <a:solidFill>
                <a:srgbClr val="00B0F0"/>
              </a:solidFill>
            </a:endParaRPr>
          </a:p>
          <a:p>
            <a:r>
              <a:rPr lang="en-US" sz="2800"/>
              <a:t>    Mesh </a:t>
            </a:r>
            <a:r>
              <a:rPr lang="en-US" sz="2800">
                <a:solidFill>
                  <a:srgbClr val="0070C0"/>
                </a:solidFill>
              </a:rPr>
              <a:t>*</a:t>
            </a:r>
            <a:r>
              <a:rPr lang="en-US" sz="2800"/>
              <a:t>m_mesh</a:t>
            </a:r>
            <a:endParaRPr lang="en-US" sz="2800"/>
          </a:p>
          <a:p>
            <a:r>
              <a:rPr lang="en-US" sz="2800"/>
              <a:t>    Autio </a:t>
            </a:r>
            <a:r>
              <a:rPr lang="en-US" sz="2800">
                <a:solidFill>
                  <a:srgbClr val="0070C0"/>
                </a:solidFill>
              </a:rPr>
              <a:t>*</a:t>
            </a:r>
            <a:r>
              <a:rPr lang="en-US" sz="2800"/>
              <a:t>m_audio</a:t>
            </a:r>
            <a:endParaRPr lang="en-US" sz="2800"/>
          </a:p>
          <a:p>
            <a:pPr>
              <a:lnSpc>
                <a:spcPct val="100000"/>
              </a:lnSpc>
            </a:pPr>
            <a:r>
              <a:rPr lang="en-US" sz="2800">
                <a:solidFill>
                  <a:srgbClr val="0070C0"/>
                </a:solidFill>
              </a:rPr>
              <a:t>}</a:t>
            </a:r>
            <a:endParaRPr lang="en-US" sz="2800">
              <a:solidFill>
                <a:srgbClr val="0070C0"/>
              </a:solidFill>
            </a:endParaRPr>
          </a:p>
          <a:p>
            <a:pPr>
              <a:lnSpc>
                <a:spcPct val="100000"/>
              </a:lnSpc>
            </a:pPr>
            <a:r>
              <a:rPr lang="en-US" sz="2800">
                <a:solidFill>
                  <a:srgbClr val="FF6600"/>
                </a:solidFill>
              </a:rPr>
              <a:t>class </a:t>
            </a:r>
            <a:r>
              <a:rPr lang="en-US" sz="2800"/>
              <a:t>LightWithAudio </a:t>
            </a:r>
            <a:r>
              <a:rPr lang="en-US" sz="2800">
                <a:solidFill>
                  <a:srgbClr val="FF6600"/>
                </a:solidFill>
              </a:rPr>
              <a:t>extends </a:t>
            </a:r>
            <a:r>
              <a:rPr lang="en-US" sz="2800"/>
              <a:t>Entity </a:t>
            </a:r>
            <a:r>
              <a:rPr lang="en-US" sz="2800">
                <a:solidFill>
                  <a:srgbClr val="0070C0"/>
                </a:solidFill>
              </a:rPr>
              <a:t>{</a:t>
            </a:r>
            <a:endParaRPr lang="en-US" sz="2800"/>
          </a:p>
          <a:p>
            <a:pPr>
              <a:lnSpc>
                <a:spcPct val="100000"/>
              </a:lnSpc>
            </a:pPr>
            <a:r>
              <a:rPr lang="en-US" sz="2800"/>
              <a:t>    Light </a:t>
            </a:r>
            <a:r>
              <a:rPr lang="en-US" sz="2800">
                <a:solidFill>
                  <a:srgbClr val="0070C0"/>
                </a:solidFill>
              </a:rPr>
              <a:t>*</a:t>
            </a:r>
            <a:r>
              <a:rPr lang="en-US" sz="2800"/>
              <a:t>m_mesh</a:t>
            </a:r>
            <a:endParaRPr lang="en-US" sz="2800"/>
          </a:p>
          <a:p>
            <a:pPr>
              <a:lnSpc>
                <a:spcPct val="100000"/>
              </a:lnSpc>
            </a:pPr>
            <a:r>
              <a:rPr lang="en-US" sz="2800"/>
              <a:t>    Autio </a:t>
            </a:r>
            <a:r>
              <a:rPr lang="en-US" sz="2800">
                <a:solidFill>
                  <a:srgbClr val="0070C0"/>
                </a:solidFill>
              </a:rPr>
              <a:t>*</a:t>
            </a:r>
            <a:r>
              <a:rPr lang="en-US" sz="2800"/>
              <a:t>m_audio</a:t>
            </a:r>
            <a:endParaRPr lang="en-US" sz="2800"/>
          </a:p>
          <a:p>
            <a:r>
              <a:rPr lang="en-US" sz="2800">
                <a:solidFill>
                  <a:srgbClr val="0070C0"/>
                </a:solidFill>
              </a:rPr>
              <a:t>}</a:t>
            </a:r>
            <a:endParaRPr lang="en-US" sz="2800">
              <a:solidFill>
                <a:srgbClr val="0070C0"/>
              </a:solidFill>
            </a:endParaRPr>
          </a:p>
          <a:p>
            <a:endParaRPr lang="en-US" sz="2800">
              <a:solidFill>
                <a:srgbClr val="0070C0"/>
              </a:solidFill>
            </a:endParaRPr>
          </a:p>
        </p:txBody>
      </p:sp>
      <p:sp>
        <p:nvSpPr>
          <p:cNvPr id="4" name="Text Box 3"/>
          <p:cNvSpPr txBox="1"/>
          <p:nvPr/>
        </p:nvSpPr>
        <p:spPr>
          <a:xfrm>
            <a:off x="6411595" y="1412240"/>
            <a:ext cx="5325110" cy="483108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p>
            <a:pPr>
              <a:lnSpc>
                <a:spcPct val="100000"/>
              </a:lnSpc>
            </a:pPr>
            <a:r>
              <a:rPr lang="en-US" sz="2800">
                <a:solidFill>
                  <a:srgbClr val="FF6600"/>
                </a:solidFill>
                <a:sym typeface="+mn-ea"/>
              </a:rPr>
              <a:t>class </a:t>
            </a:r>
            <a:r>
              <a:rPr lang="en-US" sz="2800">
                <a:sym typeface="+mn-ea"/>
              </a:rPr>
              <a:t>LightMeshWithAudio </a:t>
            </a:r>
            <a:r>
              <a:rPr lang="en-US" sz="2800">
                <a:solidFill>
                  <a:srgbClr val="FF6600"/>
                </a:solidFill>
                <a:sym typeface="+mn-ea"/>
              </a:rPr>
              <a:t>extends </a:t>
            </a:r>
            <a:r>
              <a:rPr lang="en-US" sz="2800">
                <a:sym typeface="+mn-ea"/>
              </a:rPr>
              <a:t>Entity </a:t>
            </a:r>
            <a:r>
              <a:rPr lang="en-US" sz="2800">
                <a:solidFill>
                  <a:srgbClr val="0070C0"/>
                </a:solidFill>
                <a:sym typeface="+mn-ea"/>
              </a:rPr>
              <a:t>{</a:t>
            </a:r>
            <a:endParaRPr lang="en-US" sz="2800"/>
          </a:p>
          <a:p>
            <a:r>
              <a:rPr lang="en-US" sz="2800">
                <a:sym typeface="+mn-ea"/>
              </a:rPr>
              <a:t>    Light </a:t>
            </a:r>
            <a:r>
              <a:rPr lang="en-US" sz="2800">
                <a:solidFill>
                  <a:srgbClr val="0070C0"/>
                </a:solidFill>
                <a:sym typeface="+mn-ea"/>
              </a:rPr>
              <a:t>*</a:t>
            </a:r>
            <a:r>
              <a:rPr lang="en-US" sz="2800">
                <a:sym typeface="+mn-ea"/>
              </a:rPr>
              <a:t>m_light</a:t>
            </a:r>
            <a:endParaRPr lang="en-US" sz="2800"/>
          </a:p>
          <a:p>
            <a:pPr>
              <a:lnSpc>
                <a:spcPct val="100000"/>
              </a:lnSpc>
            </a:pPr>
            <a:r>
              <a:rPr lang="en-US" sz="2800">
                <a:sym typeface="+mn-ea"/>
              </a:rPr>
              <a:t>    Mesh </a:t>
            </a:r>
            <a:r>
              <a:rPr lang="en-US" sz="2800">
                <a:solidFill>
                  <a:srgbClr val="0070C0"/>
                </a:solidFill>
                <a:sym typeface="+mn-ea"/>
              </a:rPr>
              <a:t>*</a:t>
            </a:r>
            <a:r>
              <a:rPr lang="en-US" sz="2800">
                <a:sym typeface="+mn-ea"/>
              </a:rPr>
              <a:t>m_mesh</a:t>
            </a:r>
            <a:endParaRPr lang="en-US" sz="2800"/>
          </a:p>
          <a:p>
            <a:pPr>
              <a:lnSpc>
                <a:spcPct val="100000"/>
              </a:lnSpc>
            </a:pPr>
            <a:r>
              <a:rPr lang="en-US" sz="2800">
                <a:sym typeface="+mn-ea"/>
              </a:rPr>
              <a:t>    Autio </a:t>
            </a:r>
            <a:r>
              <a:rPr lang="en-US" sz="2800">
                <a:solidFill>
                  <a:srgbClr val="0070C0"/>
                </a:solidFill>
                <a:sym typeface="+mn-ea"/>
              </a:rPr>
              <a:t>*</a:t>
            </a:r>
            <a:r>
              <a:rPr lang="en-US" sz="2800">
                <a:sym typeface="+mn-ea"/>
              </a:rPr>
              <a:t>m_audio</a:t>
            </a:r>
            <a:endParaRPr lang="en-US" sz="2800"/>
          </a:p>
          <a:p>
            <a:r>
              <a:rPr lang="en-US" sz="2800">
                <a:solidFill>
                  <a:srgbClr val="0070C0"/>
                </a:solidFill>
                <a:sym typeface="+mn-ea"/>
              </a:rPr>
              <a:t>}</a:t>
            </a:r>
            <a:endParaRPr lang="en-US" sz="2800">
              <a:solidFill>
                <a:srgbClr val="0070C0"/>
              </a:solidFill>
            </a:endParaRPr>
          </a:p>
          <a:p>
            <a:pPr>
              <a:lnSpc>
                <a:spcPct val="100000"/>
              </a:lnSpc>
            </a:pPr>
            <a:r>
              <a:rPr lang="en-US" sz="2800">
                <a:solidFill>
                  <a:srgbClr val="FF6600"/>
                </a:solidFill>
                <a:sym typeface="+mn-ea"/>
              </a:rPr>
              <a:t>class </a:t>
            </a:r>
            <a:r>
              <a:rPr lang="en-US" sz="2800">
                <a:sym typeface="+mn-ea"/>
              </a:rPr>
              <a:t>SpriteWithTransform </a:t>
            </a:r>
            <a:r>
              <a:rPr lang="en-US" sz="2800">
                <a:solidFill>
                  <a:srgbClr val="FF6600"/>
                </a:solidFill>
                <a:sym typeface="+mn-ea"/>
              </a:rPr>
              <a:t>extends </a:t>
            </a:r>
            <a:r>
              <a:rPr lang="en-US" sz="2800">
                <a:sym typeface="+mn-ea"/>
              </a:rPr>
              <a:t>Entity </a:t>
            </a:r>
            <a:r>
              <a:rPr lang="en-US" sz="2800">
                <a:solidFill>
                  <a:srgbClr val="0070C0"/>
                </a:solidFill>
                <a:sym typeface="+mn-ea"/>
              </a:rPr>
              <a:t>{</a:t>
            </a:r>
            <a:endParaRPr lang="en-US" sz="2800"/>
          </a:p>
          <a:p>
            <a:r>
              <a:rPr lang="en-US" sz="2800">
                <a:sym typeface="+mn-ea"/>
              </a:rPr>
              <a:t>    Sprite </a:t>
            </a:r>
            <a:r>
              <a:rPr lang="en-US" sz="2800">
                <a:solidFill>
                  <a:srgbClr val="0070C0"/>
                </a:solidFill>
                <a:sym typeface="+mn-ea"/>
              </a:rPr>
              <a:t>*</a:t>
            </a:r>
            <a:r>
              <a:rPr lang="en-US" sz="2800">
                <a:sym typeface="+mn-ea"/>
              </a:rPr>
              <a:t>m_sprite</a:t>
            </a:r>
            <a:endParaRPr lang="en-US" sz="2800"/>
          </a:p>
          <a:p>
            <a:r>
              <a:rPr lang="en-US" sz="2800">
                <a:sym typeface="+mn-ea"/>
              </a:rPr>
              <a:t>    Transform </a:t>
            </a:r>
            <a:r>
              <a:rPr lang="en-US" sz="2800">
                <a:solidFill>
                  <a:srgbClr val="0070C0"/>
                </a:solidFill>
                <a:sym typeface="+mn-ea"/>
              </a:rPr>
              <a:t>*</a:t>
            </a:r>
            <a:r>
              <a:rPr lang="en-US" sz="2800">
                <a:sym typeface="+mn-ea"/>
              </a:rPr>
              <a:t>m_transform</a:t>
            </a:r>
            <a:endParaRPr lang="en-US" sz="2800"/>
          </a:p>
          <a:p>
            <a:r>
              <a:rPr lang="en-US" sz="2800">
                <a:solidFill>
                  <a:srgbClr val="0070C0"/>
                </a:solidFill>
                <a:sym typeface="+mn-ea"/>
              </a:rPr>
              <a:t>}</a:t>
            </a:r>
            <a:endParaRPr lang="en-US" sz="2800">
              <a:solidFill>
                <a:srgbClr val="0070C0"/>
              </a:solidFill>
              <a:sym typeface="+mn-ea"/>
            </a:endParaRPr>
          </a:p>
        </p:txBody>
      </p:sp>
      <p:sp>
        <p:nvSpPr>
          <p:cNvPr id="5" name="Text Box 4"/>
          <p:cNvSpPr txBox="1"/>
          <p:nvPr/>
        </p:nvSpPr>
        <p:spPr>
          <a:xfrm>
            <a:off x="11383645" y="304165"/>
            <a:ext cx="492125" cy="368300"/>
          </a:xfrm>
          <a:prstGeom prst="rect">
            <a:avLst/>
          </a:prstGeom>
          <a:noFill/>
        </p:spPr>
        <p:txBody>
          <a:bodyPr wrap="square" rtlCol="0">
            <a:spAutoFit/>
          </a:bodyPr>
          <a:p>
            <a:r>
              <a:rPr lang="pt-PT" altLang="en-US"/>
              <a:t>2</a:t>
            </a:r>
            <a:endParaRPr lang="pt-PT"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9580" y="304165"/>
            <a:ext cx="11287125" cy="706755"/>
          </a:xfrm>
          <a:prstGeom prst="rect">
            <a:avLst/>
          </a:prstGeom>
          <a:noFill/>
        </p:spPr>
        <p:txBody>
          <a:bodyPr wrap="square" rtlCol="0">
            <a:spAutoFit/>
          </a:bodyPr>
          <a:p>
            <a:r>
              <a:rPr lang="pt-PT" altLang="en-US" sz="4000">
                <a:effectLst>
                  <a:outerShdw blurRad="38100" dist="19050" dir="2700000" algn="tl" rotWithShape="0">
                    <a:schemeClr val="dk1">
                      <a:alpha val="40000"/>
                    </a:schemeClr>
                  </a:outerShdw>
                </a:effectLst>
                <a:sym typeface="+mn-ea"/>
              </a:rPr>
              <a:t>Direct approach: Example</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49580" y="1412875"/>
            <a:ext cx="10362565" cy="316928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4000">
                <a:solidFill>
                  <a:srgbClr val="FF6600"/>
                </a:solidFill>
              </a:rPr>
              <a:t>class </a:t>
            </a:r>
            <a:r>
              <a:rPr lang="en-US" sz="4000"/>
              <a:t>Enemy </a:t>
            </a:r>
            <a:r>
              <a:rPr lang="en-US" sz="4000">
                <a:solidFill>
                  <a:srgbClr val="FF6600"/>
                </a:solidFill>
              </a:rPr>
              <a:t>extends </a:t>
            </a:r>
            <a:r>
              <a:rPr lang="en-US" sz="4000"/>
              <a:t>MeshWithAudio</a:t>
            </a:r>
            <a:endParaRPr lang="en-US" sz="4000"/>
          </a:p>
          <a:p>
            <a:pPr>
              <a:lnSpc>
                <a:spcPct val="100000"/>
              </a:lnSpc>
            </a:pPr>
            <a:r>
              <a:rPr lang="en-US" sz="4000">
                <a:solidFill>
                  <a:srgbClr val="FF6600"/>
                </a:solidFill>
              </a:rPr>
              <a:t>class </a:t>
            </a:r>
            <a:r>
              <a:rPr lang="en-US" sz="4000"/>
              <a:t>Player </a:t>
            </a:r>
            <a:r>
              <a:rPr lang="en-US" sz="4000">
                <a:solidFill>
                  <a:srgbClr val="FF6600"/>
                </a:solidFill>
              </a:rPr>
              <a:t>extends </a:t>
            </a:r>
            <a:r>
              <a:rPr lang="en-US" sz="4000"/>
              <a:t>MeshWithAudio</a:t>
            </a:r>
            <a:endParaRPr lang="en-US" sz="4000"/>
          </a:p>
          <a:p>
            <a:pPr>
              <a:lnSpc>
                <a:spcPct val="100000"/>
              </a:lnSpc>
            </a:pPr>
            <a:r>
              <a:rPr lang="en-US" sz="4000">
                <a:solidFill>
                  <a:srgbClr val="FF6600"/>
                </a:solidFill>
              </a:rPr>
              <a:t>class </a:t>
            </a:r>
            <a:r>
              <a:rPr lang="en-US" sz="4000"/>
              <a:t>Firefly </a:t>
            </a:r>
            <a:r>
              <a:rPr lang="en-US" sz="4000">
                <a:solidFill>
                  <a:srgbClr val="FF6600"/>
                </a:solidFill>
                <a:sym typeface="+mn-ea"/>
              </a:rPr>
              <a:t>extends </a:t>
            </a:r>
            <a:r>
              <a:rPr lang="en-US" sz="4000"/>
              <a:t>LightWithAudio</a:t>
            </a:r>
            <a:endParaRPr lang="en-US" sz="4000"/>
          </a:p>
          <a:p>
            <a:pPr>
              <a:lnSpc>
                <a:spcPct val="100000"/>
              </a:lnSpc>
            </a:pPr>
            <a:r>
              <a:rPr lang="en-US" sz="4000">
                <a:solidFill>
                  <a:srgbClr val="FF6600"/>
                </a:solidFill>
              </a:rPr>
              <a:t>class </a:t>
            </a:r>
            <a:r>
              <a:rPr lang="en-US" sz="4000"/>
              <a:t>Lamp </a:t>
            </a:r>
            <a:r>
              <a:rPr lang="en-US" sz="4000">
                <a:solidFill>
                  <a:srgbClr val="FF6600"/>
                </a:solidFill>
                <a:sym typeface="+mn-ea"/>
              </a:rPr>
              <a:t>extends </a:t>
            </a:r>
            <a:r>
              <a:rPr lang="en-US" sz="4000"/>
              <a:t>LightMeshWithAudio</a:t>
            </a:r>
            <a:endParaRPr lang="en-US" sz="4000"/>
          </a:p>
          <a:p>
            <a:pPr>
              <a:lnSpc>
                <a:spcPct val="100000"/>
              </a:lnSpc>
            </a:pPr>
            <a:r>
              <a:rPr lang="en-US" sz="4000">
                <a:solidFill>
                  <a:srgbClr val="FF6600"/>
                </a:solidFill>
              </a:rPr>
              <a:t>class </a:t>
            </a:r>
            <a:r>
              <a:rPr lang="en-US" sz="4000"/>
              <a:t>UID </a:t>
            </a:r>
            <a:r>
              <a:rPr lang="en-US" sz="4000">
                <a:solidFill>
                  <a:srgbClr val="FF6600"/>
                </a:solidFill>
                <a:sym typeface="+mn-ea"/>
              </a:rPr>
              <a:t>extends </a:t>
            </a:r>
            <a:r>
              <a:rPr lang="en-US" sz="4000"/>
              <a:t>SpriteWithTransform</a:t>
            </a:r>
            <a:endParaRPr lang="en-US" sz="4000"/>
          </a:p>
        </p:txBody>
      </p:sp>
      <p:sp>
        <p:nvSpPr>
          <p:cNvPr id="4" name="Text Box 3"/>
          <p:cNvSpPr txBox="1"/>
          <p:nvPr/>
        </p:nvSpPr>
        <p:spPr>
          <a:xfrm>
            <a:off x="11383645" y="304165"/>
            <a:ext cx="492125" cy="368300"/>
          </a:xfrm>
          <a:prstGeom prst="rect">
            <a:avLst/>
          </a:prstGeom>
          <a:noFill/>
        </p:spPr>
        <p:txBody>
          <a:bodyPr wrap="square" rtlCol="0">
            <a:spAutoFit/>
          </a:bodyPr>
          <a:p>
            <a:r>
              <a:rPr lang="pt-PT" altLang="en-US"/>
              <a:t>3</a:t>
            </a:r>
            <a:endParaRPr lang="pt-PT"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Example: Updating the Entities</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49580" y="1412875"/>
            <a:ext cx="4133850" cy="26765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800">
                <a:solidFill>
                  <a:srgbClr val="FF6600"/>
                </a:solidFill>
              </a:rPr>
              <a:t>For each </a:t>
            </a:r>
            <a:r>
              <a:rPr lang="en-US" sz="2800"/>
              <a:t>Enemy</a:t>
            </a:r>
            <a:endParaRPr lang="en-US" sz="2800"/>
          </a:p>
          <a:p>
            <a:pPr>
              <a:lnSpc>
                <a:spcPct val="100000"/>
              </a:lnSpc>
            </a:pPr>
            <a:r>
              <a:rPr lang="en-US" sz="2800"/>
              <a:t>    </a:t>
            </a:r>
            <a:r>
              <a:rPr lang="en-US" sz="2800">
                <a:solidFill>
                  <a:srgbClr val="FF6600"/>
                </a:solidFill>
              </a:rPr>
              <a:t>call </a:t>
            </a:r>
            <a:r>
              <a:rPr lang="en-US" sz="2800"/>
              <a:t>updatePhysics</a:t>
            </a:r>
            <a:endParaRPr lang="en-US" sz="2800"/>
          </a:p>
          <a:p>
            <a:pPr>
              <a:lnSpc>
                <a:spcPct val="100000"/>
              </a:lnSpc>
            </a:pPr>
            <a:r>
              <a:rPr lang="en-US" sz="2800"/>
              <a:t>    </a:t>
            </a:r>
            <a:r>
              <a:rPr lang="en-US" sz="2800">
                <a:solidFill>
                  <a:srgbClr val="FF6600"/>
                </a:solidFill>
                <a:sym typeface="+mn-ea"/>
              </a:rPr>
              <a:t>call </a:t>
            </a:r>
            <a:r>
              <a:rPr lang="en-US" sz="2800"/>
              <a:t>checkCollisions</a:t>
            </a:r>
            <a:endParaRPr lang="en-US" sz="2800"/>
          </a:p>
          <a:p>
            <a:pPr>
              <a:lnSpc>
                <a:spcPct val="100000"/>
              </a:lnSpc>
            </a:pPr>
            <a:r>
              <a:rPr lang="en-US" sz="2800"/>
              <a:t>    </a:t>
            </a:r>
            <a:r>
              <a:rPr lang="en-US" sz="2800">
                <a:solidFill>
                  <a:srgbClr val="FF6600"/>
                </a:solidFill>
                <a:sym typeface="+mn-ea"/>
              </a:rPr>
              <a:t>call </a:t>
            </a:r>
            <a:r>
              <a:rPr lang="en-US" sz="2800"/>
              <a:t>move</a:t>
            </a:r>
            <a:endParaRPr lang="en-US" sz="2800"/>
          </a:p>
          <a:p>
            <a:pPr>
              <a:lnSpc>
                <a:spcPct val="100000"/>
              </a:lnSpc>
            </a:pPr>
            <a:r>
              <a:rPr lang="en-US" sz="2800"/>
              <a:t>    </a:t>
            </a:r>
            <a:r>
              <a:rPr lang="en-US" sz="2800">
                <a:solidFill>
                  <a:srgbClr val="FF6600"/>
                </a:solidFill>
                <a:sym typeface="+mn-ea"/>
              </a:rPr>
              <a:t>call </a:t>
            </a:r>
            <a:r>
              <a:rPr lang="en-US" sz="2800"/>
              <a:t>render</a:t>
            </a:r>
            <a:endParaRPr lang="en-US" sz="2800"/>
          </a:p>
          <a:p>
            <a:pPr>
              <a:lnSpc>
                <a:spcPct val="100000"/>
              </a:lnSpc>
            </a:pPr>
            <a:r>
              <a:rPr lang="en-US" sz="2800"/>
              <a:t>    </a:t>
            </a:r>
            <a:r>
              <a:rPr lang="en-US" sz="2800">
                <a:solidFill>
                  <a:schemeClr val="bg1">
                    <a:lumMod val="50000"/>
                  </a:schemeClr>
                </a:solidFill>
              </a:rPr>
              <a:t>// etc</a:t>
            </a:r>
            <a:endParaRPr lang="en-US" sz="2800">
              <a:solidFill>
                <a:schemeClr val="bg1">
                  <a:lumMod val="50000"/>
                </a:schemeClr>
              </a:solidFill>
            </a:endParaRPr>
          </a:p>
        </p:txBody>
      </p:sp>
      <p:sp>
        <p:nvSpPr>
          <p:cNvPr id="5" name="Text Box 4"/>
          <p:cNvSpPr txBox="1"/>
          <p:nvPr/>
        </p:nvSpPr>
        <p:spPr>
          <a:xfrm>
            <a:off x="6308090" y="1412875"/>
            <a:ext cx="3999230" cy="26765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800">
                <a:solidFill>
                  <a:srgbClr val="FF6600"/>
                </a:solidFill>
                <a:sym typeface="+mn-ea"/>
              </a:rPr>
              <a:t>For each</a:t>
            </a:r>
            <a:r>
              <a:rPr lang="en-US" sz="2800">
                <a:sym typeface="+mn-ea"/>
              </a:rPr>
              <a:t> Player</a:t>
            </a:r>
            <a:endParaRPr lang="en-US" sz="2800"/>
          </a:p>
          <a:p>
            <a:pPr>
              <a:lnSpc>
                <a:spcPct val="100000"/>
              </a:lnSpc>
            </a:pPr>
            <a:r>
              <a:rPr lang="en-US" sz="2800">
                <a:sym typeface="+mn-ea"/>
              </a:rPr>
              <a:t>    </a:t>
            </a:r>
            <a:r>
              <a:rPr lang="en-US" sz="2800">
                <a:solidFill>
                  <a:srgbClr val="FF6600"/>
                </a:solidFill>
                <a:sym typeface="+mn-ea"/>
              </a:rPr>
              <a:t>call </a:t>
            </a:r>
            <a:r>
              <a:rPr lang="en-US" sz="2800">
                <a:sym typeface="+mn-ea"/>
              </a:rPr>
              <a:t>updatePhysics</a:t>
            </a:r>
            <a:endParaRPr lang="en-US" sz="2800"/>
          </a:p>
          <a:p>
            <a:pPr>
              <a:lnSpc>
                <a:spcPct val="100000"/>
              </a:lnSpc>
            </a:pPr>
            <a:r>
              <a:rPr lang="en-US" sz="2800">
                <a:sym typeface="+mn-ea"/>
              </a:rPr>
              <a:t>    </a:t>
            </a:r>
            <a:r>
              <a:rPr lang="en-US" sz="2800">
                <a:solidFill>
                  <a:srgbClr val="FF6600"/>
                </a:solidFill>
                <a:sym typeface="+mn-ea"/>
              </a:rPr>
              <a:t>call </a:t>
            </a:r>
            <a:r>
              <a:rPr lang="en-US" sz="2800">
                <a:sym typeface="+mn-ea"/>
              </a:rPr>
              <a:t>checkCollisions</a:t>
            </a:r>
            <a:endParaRPr lang="en-US" sz="2800"/>
          </a:p>
          <a:p>
            <a:pPr>
              <a:lnSpc>
                <a:spcPct val="100000"/>
              </a:lnSpc>
            </a:pPr>
            <a:r>
              <a:rPr lang="en-US" sz="2800">
                <a:sym typeface="+mn-ea"/>
              </a:rPr>
              <a:t>    </a:t>
            </a:r>
            <a:r>
              <a:rPr lang="en-US" sz="2800">
                <a:solidFill>
                  <a:srgbClr val="FF6600"/>
                </a:solidFill>
                <a:sym typeface="+mn-ea"/>
              </a:rPr>
              <a:t>call </a:t>
            </a:r>
            <a:r>
              <a:rPr lang="en-US" sz="2800">
                <a:sym typeface="+mn-ea"/>
              </a:rPr>
              <a:t>move</a:t>
            </a:r>
            <a:endParaRPr lang="en-US" sz="2800"/>
          </a:p>
          <a:p>
            <a:pPr>
              <a:lnSpc>
                <a:spcPct val="100000"/>
              </a:lnSpc>
            </a:pPr>
            <a:r>
              <a:rPr lang="en-US" sz="2800">
                <a:sym typeface="+mn-ea"/>
              </a:rPr>
              <a:t>    </a:t>
            </a:r>
            <a:r>
              <a:rPr lang="en-US" sz="2800">
                <a:solidFill>
                  <a:srgbClr val="FF6600"/>
                </a:solidFill>
                <a:sym typeface="+mn-ea"/>
              </a:rPr>
              <a:t>call </a:t>
            </a:r>
            <a:r>
              <a:rPr lang="en-US" sz="2800">
                <a:sym typeface="+mn-ea"/>
              </a:rPr>
              <a:t>render</a:t>
            </a:r>
            <a:endParaRPr lang="en-US" sz="2800"/>
          </a:p>
          <a:p>
            <a:pPr>
              <a:lnSpc>
                <a:spcPct val="100000"/>
              </a:lnSpc>
            </a:pPr>
            <a:r>
              <a:rPr lang="en-US" sz="2800">
                <a:sym typeface="+mn-ea"/>
              </a:rPr>
              <a:t>    </a:t>
            </a:r>
            <a:r>
              <a:rPr lang="en-US" sz="2800">
                <a:solidFill>
                  <a:schemeClr val="bg1">
                    <a:lumMod val="50000"/>
                  </a:schemeClr>
                </a:solidFill>
                <a:sym typeface="+mn-ea"/>
              </a:rPr>
              <a:t>// etc</a:t>
            </a:r>
            <a:endParaRPr lang="en-US" sz="4000"/>
          </a:p>
        </p:txBody>
      </p:sp>
      <p:sp>
        <p:nvSpPr>
          <p:cNvPr id="6" name="Text Box 5"/>
          <p:cNvSpPr txBox="1"/>
          <p:nvPr/>
        </p:nvSpPr>
        <p:spPr>
          <a:xfrm>
            <a:off x="3548380" y="4491355"/>
            <a:ext cx="4133850" cy="18148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800">
                <a:solidFill>
                  <a:srgbClr val="FF6600"/>
                </a:solidFill>
                <a:sym typeface="+mn-ea"/>
              </a:rPr>
              <a:t>For each</a:t>
            </a:r>
            <a:r>
              <a:rPr lang="en-US" sz="2800">
                <a:sym typeface="+mn-ea"/>
              </a:rPr>
              <a:t> Firefly</a:t>
            </a:r>
            <a:endParaRPr lang="en-US" sz="2800"/>
          </a:p>
          <a:p>
            <a:pPr>
              <a:lnSpc>
                <a:spcPct val="100000"/>
              </a:lnSpc>
            </a:pPr>
            <a:r>
              <a:rPr lang="en-US" sz="2800">
                <a:sym typeface="+mn-ea"/>
              </a:rPr>
              <a:t>    </a:t>
            </a:r>
            <a:r>
              <a:rPr lang="en-US" sz="2800">
                <a:solidFill>
                  <a:srgbClr val="FF6600"/>
                </a:solidFill>
                <a:sym typeface="+mn-ea"/>
              </a:rPr>
              <a:t>call </a:t>
            </a:r>
            <a:r>
              <a:rPr lang="en-US" sz="2800">
                <a:sym typeface="+mn-ea"/>
              </a:rPr>
              <a:t>move</a:t>
            </a:r>
            <a:endParaRPr lang="en-US" sz="2800"/>
          </a:p>
          <a:p>
            <a:pPr>
              <a:lnSpc>
                <a:spcPct val="100000"/>
              </a:lnSpc>
            </a:pPr>
            <a:r>
              <a:rPr lang="en-US" sz="2800">
                <a:sym typeface="+mn-ea"/>
              </a:rPr>
              <a:t>    </a:t>
            </a:r>
            <a:r>
              <a:rPr lang="en-US" sz="2800">
                <a:solidFill>
                  <a:srgbClr val="FF6600"/>
                </a:solidFill>
                <a:sym typeface="+mn-ea"/>
              </a:rPr>
              <a:t>call </a:t>
            </a:r>
            <a:r>
              <a:rPr lang="en-US" sz="2800">
                <a:sym typeface="+mn-ea"/>
              </a:rPr>
              <a:t>emmit</a:t>
            </a:r>
            <a:endParaRPr lang="en-US" sz="2800"/>
          </a:p>
          <a:p>
            <a:pPr>
              <a:lnSpc>
                <a:spcPct val="100000"/>
              </a:lnSpc>
            </a:pPr>
            <a:r>
              <a:rPr lang="en-US" sz="2800">
                <a:sym typeface="+mn-ea"/>
              </a:rPr>
              <a:t>    </a:t>
            </a:r>
            <a:r>
              <a:rPr lang="en-US" sz="2800">
                <a:solidFill>
                  <a:schemeClr val="bg1">
                    <a:lumMod val="50000"/>
                  </a:schemeClr>
                </a:solidFill>
                <a:sym typeface="+mn-ea"/>
              </a:rPr>
              <a:t>// etc</a:t>
            </a:r>
            <a:endParaRPr lang="en-US" sz="2800"/>
          </a:p>
        </p:txBody>
      </p:sp>
      <p:sp>
        <p:nvSpPr>
          <p:cNvPr id="4" name="Text Box 3"/>
          <p:cNvSpPr txBox="1"/>
          <p:nvPr/>
        </p:nvSpPr>
        <p:spPr>
          <a:xfrm>
            <a:off x="11383645" y="304165"/>
            <a:ext cx="492125" cy="368300"/>
          </a:xfrm>
          <a:prstGeom prst="rect">
            <a:avLst/>
          </a:prstGeom>
          <a:noFill/>
        </p:spPr>
        <p:txBody>
          <a:bodyPr wrap="square" rtlCol="0">
            <a:spAutoFit/>
          </a:bodyPr>
          <a:p>
            <a:r>
              <a:rPr lang="pt-PT" altLang="en-US"/>
              <a:t>4</a:t>
            </a:r>
            <a:endParaRPr lang="pt-PT"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Problem: Polymorphism Overhead</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49580" y="1285875"/>
            <a:ext cx="11287125" cy="1568450"/>
          </a:xfrm>
          <a:prstGeom prst="rect">
            <a:avLst/>
          </a:prstGeom>
          <a:noFill/>
        </p:spPr>
        <p:txBody>
          <a:bodyPr wrap="square" rtlCol="0">
            <a:spAutoFit/>
          </a:bodyPr>
          <a:p>
            <a:r>
              <a:rPr lang="en-US" sz="3200"/>
              <a:t>Whenever you call a method of a base class or using interfaces, the call itself involves one indirect step before the actual code is reached</a:t>
            </a:r>
            <a:r>
              <a:rPr lang="pt-PT" altLang="en-US" sz="3200"/>
              <a:t>.</a:t>
            </a:r>
            <a:endParaRPr lang="pt-PT" altLang="en-US" sz="3200"/>
          </a:p>
        </p:txBody>
      </p:sp>
      <p:sp>
        <p:nvSpPr>
          <p:cNvPr id="4" name="Text Box 3"/>
          <p:cNvSpPr txBox="1"/>
          <p:nvPr/>
        </p:nvSpPr>
        <p:spPr>
          <a:xfrm>
            <a:off x="449580" y="3305175"/>
            <a:ext cx="11287125" cy="1076325"/>
          </a:xfrm>
          <a:prstGeom prst="rect">
            <a:avLst/>
          </a:prstGeom>
          <a:noFill/>
        </p:spPr>
        <p:txBody>
          <a:bodyPr wrap="square" rtlCol="0">
            <a:spAutoFit/>
          </a:bodyPr>
          <a:p>
            <a:r>
              <a:rPr lang="pt-PT" altLang="en-US" sz="3200"/>
              <a:t>In C++</a:t>
            </a:r>
            <a:r>
              <a:rPr lang="en-US" sz="3200"/>
              <a:t> </a:t>
            </a:r>
            <a:r>
              <a:rPr lang="pt-PT" altLang="en-US" sz="3200"/>
              <a:t>this is called </a:t>
            </a:r>
            <a:r>
              <a:rPr lang="en-US" sz="3200"/>
              <a:t>Dynamic Dispatch Overhead</a:t>
            </a:r>
            <a:r>
              <a:rPr lang="pt-PT" altLang="en-US" sz="3200"/>
              <a:t> and it is caused by vTables</a:t>
            </a:r>
            <a:endParaRPr lang="pt-PT" altLang="en-US" sz="3200"/>
          </a:p>
        </p:txBody>
      </p:sp>
      <p:sp>
        <p:nvSpPr>
          <p:cNvPr id="5" name="Text Box 4"/>
          <p:cNvSpPr txBox="1"/>
          <p:nvPr/>
        </p:nvSpPr>
        <p:spPr>
          <a:xfrm>
            <a:off x="11383645" y="304165"/>
            <a:ext cx="492125" cy="368300"/>
          </a:xfrm>
          <a:prstGeom prst="rect">
            <a:avLst/>
          </a:prstGeom>
          <a:noFill/>
        </p:spPr>
        <p:txBody>
          <a:bodyPr wrap="square" rtlCol="0">
            <a:spAutoFit/>
          </a:bodyPr>
          <a:p>
            <a:r>
              <a:rPr lang="pt-PT" altLang="en-US"/>
              <a:t>5</a:t>
            </a:r>
            <a:endParaRPr lang="pt-PT"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s 5"/>
          <p:cNvSpPr/>
          <p:nvPr/>
        </p:nvSpPr>
        <p:spPr>
          <a:xfrm>
            <a:off x="9182100" y="5543550"/>
            <a:ext cx="3009900" cy="1314450"/>
          </a:xfrm>
          <a:prstGeom prst="rect">
            <a:avLst/>
          </a:prstGeom>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5" name="Picture 4" descr="vtable-for-derived2-class"/>
          <p:cNvPicPr>
            <a:picLocks noChangeAspect="1"/>
          </p:cNvPicPr>
          <p:nvPr/>
        </p:nvPicPr>
        <p:blipFill>
          <a:blip r:embed="rId1"/>
          <a:stretch>
            <a:fillRect/>
          </a:stretch>
        </p:blipFill>
        <p:spPr>
          <a:xfrm>
            <a:off x="0" y="0"/>
            <a:ext cx="9297035" cy="6903720"/>
          </a:xfrm>
          <a:prstGeom prst="rect">
            <a:avLst/>
          </a:prstGeom>
        </p:spPr>
      </p:pic>
      <p:sp>
        <p:nvSpPr>
          <p:cNvPr id="8" name="Text Box 7"/>
          <p:cNvSpPr txBox="1"/>
          <p:nvPr/>
        </p:nvSpPr>
        <p:spPr>
          <a:xfrm>
            <a:off x="5582285" y="260985"/>
            <a:ext cx="6153150" cy="1322070"/>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sym typeface="+mn-ea"/>
              </a:rPr>
              <a:t>Problem: Dynamic Dispatch</a:t>
            </a:r>
            <a:endParaRPr lang="pt-PT" altLang="en-US" sz="4000">
              <a:solidFill>
                <a:schemeClr val="tx1"/>
              </a:solidFill>
              <a:effectLst>
                <a:outerShdw blurRad="38100" dist="19050" dir="2700000" algn="tl" rotWithShape="0">
                  <a:schemeClr val="dk1">
                    <a:alpha val="40000"/>
                  </a:schemeClr>
                </a:outerShdw>
              </a:effectLst>
              <a:sym typeface="+mn-ea"/>
            </a:endParaRPr>
          </a:p>
        </p:txBody>
      </p:sp>
      <p:sp>
        <p:nvSpPr>
          <p:cNvPr id="9" name="Text Box 8"/>
          <p:cNvSpPr txBox="1"/>
          <p:nvPr/>
        </p:nvSpPr>
        <p:spPr>
          <a:xfrm>
            <a:off x="5514975" y="1697355"/>
            <a:ext cx="6220460" cy="3046095"/>
          </a:xfrm>
          <a:prstGeom prst="rect">
            <a:avLst/>
          </a:prstGeom>
          <a:ln w="38100"/>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p>
            <a:r>
              <a:rPr lang="en-US" sz="3200"/>
              <a:t>At runtime the program needs to check inside the vTable what is the correct link between the virtual function and the actual function before performing the call</a:t>
            </a:r>
            <a:endParaRPr lang="en-US" sz="3200"/>
          </a:p>
        </p:txBody>
      </p:sp>
      <p:sp>
        <p:nvSpPr>
          <p:cNvPr id="4" name="Text Box 3"/>
          <p:cNvSpPr txBox="1"/>
          <p:nvPr/>
        </p:nvSpPr>
        <p:spPr>
          <a:xfrm>
            <a:off x="11383645" y="304165"/>
            <a:ext cx="492125" cy="368300"/>
          </a:xfrm>
          <a:prstGeom prst="rect">
            <a:avLst/>
          </a:prstGeom>
          <a:noFill/>
        </p:spPr>
        <p:txBody>
          <a:bodyPr wrap="square" rtlCol="0">
            <a:spAutoFit/>
          </a:bodyPr>
          <a:p>
            <a:r>
              <a:rPr lang="pt-PT" altLang="en-US"/>
              <a:t>6</a:t>
            </a:r>
            <a:endParaRPr lang="pt-PT"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Problem: Memory Locallity</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49580" y="1285875"/>
            <a:ext cx="11287125" cy="1076325"/>
          </a:xfrm>
          <a:prstGeom prst="rect">
            <a:avLst/>
          </a:prstGeom>
          <a:noFill/>
        </p:spPr>
        <p:txBody>
          <a:bodyPr wrap="square" rtlCol="0">
            <a:spAutoFit/>
          </a:bodyPr>
          <a:p>
            <a:r>
              <a:rPr lang="pt-PT" sz="3200"/>
              <a:t>W</a:t>
            </a:r>
            <a:r>
              <a:rPr sz="3200"/>
              <a:t>hen iterating in the non ECS way, you are looping in the data of the entire object first before going to the next object.</a:t>
            </a:r>
            <a:endParaRPr sz="3200"/>
          </a:p>
        </p:txBody>
      </p:sp>
      <p:sp>
        <p:nvSpPr>
          <p:cNvPr id="5" name="Text Box 4"/>
          <p:cNvSpPr txBox="1"/>
          <p:nvPr/>
        </p:nvSpPr>
        <p:spPr>
          <a:xfrm>
            <a:off x="449580" y="3489325"/>
            <a:ext cx="4571365" cy="26765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800">
                <a:solidFill>
                  <a:srgbClr val="FF6600"/>
                </a:solidFill>
              </a:rPr>
              <a:t>For each </a:t>
            </a:r>
            <a:r>
              <a:rPr lang="en-US" sz="2800"/>
              <a:t>Enemy</a:t>
            </a:r>
            <a:endParaRPr lang="en-US" sz="2800"/>
          </a:p>
          <a:p>
            <a:pPr>
              <a:lnSpc>
                <a:spcPct val="100000"/>
              </a:lnSpc>
            </a:pPr>
            <a:r>
              <a:rPr lang="en-US" sz="2800"/>
              <a:t>    </a:t>
            </a:r>
            <a:r>
              <a:rPr lang="en-US" sz="2800">
                <a:solidFill>
                  <a:srgbClr val="FF6600"/>
                </a:solidFill>
              </a:rPr>
              <a:t>call </a:t>
            </a:r>
            <a:r>
              <a:rPr lang="en-US" sz="2800"/>
              <a:t>updatePhysics</a:t>
            </a:r>
            <a:endParaRPr lang="en-US" sz="2800"/>
          </a:p>
          <a:p>
            <a:pPr>
              <a:lnSpc>
                <a:spcPct val="100000"/>
              </a:lnSpc>
            </a:pPr>
            <a:r>
              <a:rPr lang="en-US" sz="2800"/>
              <a:t>    </a:t>
            </a:r>
            <a:r>
              <a:rPr lang="en-US" sz="2800">
                <a:solidFill>
                  <a:srgbClr val="FF6600"/>
                </a:solidFill>
                <a:sym typeface="+mn-ea"/>
              </a:rPr>
              <a:t>call </a:t>
            </a:r>
            <a:r>
              <a:rPr lang="en-US" sz="2800"/>
              <a:t>checkCollisions</a:t>
            </a:r>
            <a:endParaRPr lang="en-US" sz="2800"/>
          </a:p>
          <a:p>
            <a:pPr>
              <a:lnSpc>
                <a:spcPct val="100000"/>
              </a:lnSpc>
            </a:pPr>
            <a:r>
              <a:rPr lang="en-US" sz="2800"/>
              <a:t>    </a:t>
            </a:r>
            <a:r>
              <a:rPr lang="en-US" sz="2800">
                <a:solidFill>
                  <a:srgbClr val="FF6600"/>
                </a:solidFill>
                <a:sym typeface="+mn-ea"/>
              </a:rPr>
              <a:t>call </a:t>
            </a:r>
            <a:r>
              <a:rPr lang="en-US" sz="2800"/>
              <a:t>move</a:t>
            </a:r>
            <a:endParaRPr lang="en-US" sz="2800"/>
          </a:p>
          <a:p>
            <a:pPr>
              <a:lnSpc>
                <a:spcPct val="100000"/>
              </a:lnSpc>
            </a:pPr>
            <a:r>
              <a:rPr lang="en-US" sz="2800"/>
              <a:t>    </a:t>
            </a:r>
            <a:r>
              <a:rPr lang="en-US" sz="2800">
                <a:solidFill>
                  <a:srgbClr val="FF6600"/>
                </a:solidFill>
                <a:sym typeface="+mn-ea"/>
              </a:rPr>
              <a:t>call </a:t>
            </a:r>
            <a:r>
              <a:rPr lang="en-US" sz="2800"/>
              <a:t>render</a:t>
            </a:r>
            <a:endParaRPr lang="en-US" sz="2800"/>
          </a:p>
          <a:p>
            <a:pPr>
              <a:lnSpc>
                <a:spcPct val="100000"/>
              </a:lnSpc>
            </a:pPr>
            <a:r>
              <a:rPr lang="en-US" sz="2800"/>
              <a:t>    </a:t>
            </a:r>
            <a:r>
              <a:rPr lang="en-US" sz="2800">
                <a:solidFill>
                  <a:schemeClr val="bg1">
                    <a:lumMod val="50000"/>
                  </a:schemeClr>
                </a:solidFill>
              </a:rPr>
              <a:t>// etc</a:t>
            </a:r>
            <a:endParaRPr lang="en-US" sz="2800">
              <a:solidFill>
                <a:schemeClr val="bg1">
                  <a:lumMod val="50000"/>
                </a:schemeClr>
              </a:solidFill>
            </a:endParaRPr>
          </a:p>
        </p:txBody>
      </p:sp>
      <p:sp>
        <p:nvSpPr>
          <p:cNvPr id="6" name="Text Box 5"/>
          <p:cNvSpPr txBox="1"/>
          <p:nvPr/>
        </p:nvSpPr>
        <p:spPr>
          <a:xfrm>
            <a:off x="6558280" y="3489325"/>
            <a:ext cx="4571365" cy="26765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800">
                <a:solidFill>
                  <a:srgbClr val="FF6600"/>
                </a:solidFill>
              </a:rPr>
              <a:t>For each </a:t>
            </a:r>
            <a:r>
              <a:rPr lang="en-US" sz="2800"/>
              <a:t>Enemy</a:t>
            </a:r>
            <a:endParaRPr lang="en-US" sz="2800"/>
          </a:p>
          <a:p>
            <a:pPr>
              <a:lnSpc>
                <a:spcPct val="100000"/>
              </a:lnSpc>
            </a:pPr>
            <a:r>
              <a:rPr lang="en-US" sz="2800"/>
              <a:t>    </a:t>
            </a:r>
            <a:r>
              <a:rPr lang="en-US" sz="2800">
                <a:solidFill>
                  <a:srgbClr val="FF6600"/>
                </a:solidFill>
              </a:rPr>
              <a:t>call </a:t>
            </a:r>
            <a:r>
              <a:rPr lang="en-US" sz="2800"/>
              <a:t>updatePhysics</a:t>
            </a:r>
            <a:endParaRPr lang="en-US" sz="2800"/>
          </a:p>
          <a:p>
            <a:pPr>
              <a:lnSpc>
                <a:spcPct val="100000"/>
              </a:lnSpc>
            </a:pPr>
            <a:r>
              <a:rPr lang="en-US" sz="2800"/>
              <a:t>    </a:t>
            </a:r>
            <a:r>
              <a:rPr lang="en-US" sz="2800">
                <a:solidFill>
                  <a:srgbClr val="FF6600"/>
                </a:solidFill>
                <a:sym typeface="+mn-ea"/>
              </a:rPr>
              <a:t>call </a:t>
            </a:r>
            <a:r>
              <a:rPr lang="en-US" sz="2800"/>
              <a:t>checkCollisions</a:t>
            </a:r>
            <a:endParaRPr lang="en-US" sz="2800"/>
          </a:p>
          <a:p>
            <a:pPr>
              <a:lnSpc>
                <a:spcPct val="100000"/>
              </a:lnSpc>
            </a:pPr>
            <a:r>
              <a:rPr lang="en-US" sz="2800"/>
              <a:t>    </a:t>
            </a:r>
            <a:r>
              <a:rPr lang="en-US" sz="2800">
                <a:solidFill>
                  <a:srgbClr val="FF6600"/>
                </a:solidFill>
                <a:sym typeface="+mn-ea"/>
              </a:rPr>
              <a:t>call </a:t>
            </a:r>
            <a:r>
              <a:rPr lang="en-US" sz="2800"/>
              <a:t>move</a:t>
            </a:r>
            <a:endParaRPr lang="en-US" sz="2800"/>
          </a:p>
          <a:p>
            <a:pPr>
              <a:lnSpc>
                <a:spcPct val="100000"/>
              </a:lnSpc>
            </a:pPr>
            <a:r>
              <a:rPr lang="en-US" sz="2800"/>
              <a:t>    </a:t>
            </a:r>
            <a:r>
              <a:rPr lang="en-US" sz="2800">
                <a:solidFill>
                  <a:srgbClr val="FF6600"/>
                </a:solidFill>
                <a:sym typeface="+mn-ea"/>
              </a:rPr>
              <a:t>call </a:t>
            </a:r>
            <a:r>
              <a:rPr lang="en-US" sz="2800"/>
              <a:t>render</a:t>
            </a:r>
            <a:endParaRPr lang="en-US" sz="2800"/>
          </a:p>
          <a:p>
            <a:pPr>
              <a:lnSpc>
                <a:spcPct val="100000"/>
              </a:lnSpc>
            </a:pPr>
            <a:r>
              <a:rPr lang="en-US" sz="2800"/>
              <a:t>    </a:t>
            </a:r>
            <a:r>
              <a:rPr lang="en-US" sz="2800">
                <a:solidFill>
                  <a:schemeClr val="bg1">
                    <a:lumMod val="50000"/>
                  </a:schemeClr>
                </a:solidFill>
              </a:rPr>
              <a:t>// etc</a:t>
            </a:r>
            <a:endParaRPr lang="en-US" sz="2800">
              <a:solidFill>
                <a:schemeClr val="bg1">
                  <a:lumMod val="50000"/>
                </a:schemeClr>
              </a:solidFill>
            </a:endParaRPr>
          </a:p>
        </p:txBody>
      </p:sp>
      <p:cxnSp>
        <p:nvCxnSpPr>
          <p:cNvPr id="8" name="Straight Arrow Connector 7"/>
          <p:cNvCxnSpPr/>
          <p:nvPr/>
        </p:nvCxnSpPr>
        <p:spPr>
          <a:xfrm>
            <a:off x="4200525" y="3648075"/>
            <a:ext cx="0" cy="2114550"/>
          </a:xfrm>
          <a:prstGeom prst="straightConnector1">
            <a:avLst/>
          </a:prstGeom>
          <a:gradFill rotWithShape="0">
            <a:gsLst>
              <a:gs pos="0">
                <a:schemeClr val="accent1"/>
              </a:gs>
              <a:gs pos="100000">
                <a:schemeClr val="accent2"/>
              </a:gs>
            </a:gsLst>
            <a:lin ang="5400000" scaled="1"/>
          </a:gradFill>
          <a:ln w="79375" cap="flat" cmpd="sng" algn="ctr">
            <a:solidFill>
              <a:schemeClr val="accent1"/>
            </a:solidFill>
            <a:prstDash val="solid"/>
            <a:round/>
            <a:headEnd type="none" w="med" len="med"/>
            <a:tailEnd type="arrow" w="med" len="med"/>
          </a:ln>
        </p:spPr>
      </p:cxnSp>
      <p:sp>
        <p:nvSpPr>
          <p:cNvPr id="4" name="Text Box 3"/>
          <p:cNvSpPr txBox="1"/>
          <p:nvPr/>
        </p:nvSpPr>
        <p:spPr>
          <a:xfrm>
            <a:off x="11383645" y="304165"/>
            <a:ext cx="492125" cy="368300"/>
          </a:xfrm>
          <a:prstGeom prst="rect">
            <a:avLst/>
          </a:prstGeom>
          <a:noFill/>
        </p:spPr>
        <p:txBody>
          <a:bodyPr wrap="square" rtlCol="0">
            <a:spAutoFit/>
          </a:bodyPr>
          <a:p>
            <a:r>
              <a:rPr lang="pt-PT" altLang="en-US"/>
              <a:t>7</a:t>
            </a:r>
            <a:endParaRPr lang="pt-PT"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Problem: Memory Locallity</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49580" y="1285875"/>
            <a:ext cx="11287125" cy="1076325"/>
          </a:xfrm>
          <a:prstGeom prst="rect">
            <a:avLst/>
          </a:prstGeom>
          <a:noFill/>
        </p:spPr>
        <p:txBody>
          <a:bodyPr wrap="square" rtlCol="0">
            <a:spAutoFit/>
          </a:bodyPr>
          <a:p>
            <a:r>
              <a:rPr lang="pt-PT" sz="3200"/>
              <a:t>W</a:t>
            </a:r>
            <a:r>
              <a:rPr sz="3200"/>
              <a:t>hen iterating in the non ECS way, you are looping in the data of the entire object first before going to the next object.</a:t>
            </a:r>
            <a:endParaRPr sz="3200"/>
          </a:p>
        </p:txBody>
      </p:sp>
      <p:sp>
        <p:nvSpPr>
          <p:cNvPr id="5" name="Text Box 4"/>
          <p:cNvSpPr txBox="1"/>
          <p:nvPr/>
        </p:nvSpPr>
        <p:spPr>
          <a:xfrm>
            <a:off x="449580" y="3489325"/>
            <a:ext cx="4571365" cy="26765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800">
                <a:solidFill>
                  <a:srgbClr val="FF6600"/>
                </a:solidFill>
              </a:rPr>
              <a:t>For each </a:t>
            </a:r>
            <a:r>
              <a:rPr lang="en-US" sz="2800"/>
              <a:t>Enemy</a:t>
            </a:r>
            <a:endParaRPr lang="en-US" sz="2800"/>
          </a:p>
          <a:p>
            <a:pPr>
              <a:lnSpc>
                <a:spcPct val="100000"/>
              </a:lnSpc>
            </a:pPr>
            <a:r>
              <a:rPr lang="en-US" sz="2800"/>
              <a:t>    </a:t>
            </a:r>
            <a:r>
              <a:rPr lang="en-US" sz="2800">
                <a:solidFill>
                  <a:srgbClr val="FF6600"/>
                </a:solidFill>
              </a:rPr>
              <a:t>call </a:t>
            </a:r>
            <a:r>
              <a:rPr lang="en-US" sz="2800"/>
              <a:t>updatePhysics</a:t>
            </a:r>
            <a:endParaRPr lang="en-US" sz="2800"/>
          </a:p>
          <a:p>
            <a:pPr>
              <a:lnSpc>
                <a:spcPct val="100000"/>
              </a:lnSpc>
            </a:pPr>
            <a:r>
              <a:rPr lang="en-US" sz="2800"/>
              <a:t>    </a:t>
            </a:r>
            <a:r>
              <a:rPr lang="en-US" sz="2800">
                <a:solidFill>
                  <a:srgbClr val="FF6600"/>
                </a:solidFill>
                <a:sym typeface="+mn-ea"/>
              </a:rPr>
              <a:t>call </a:t>
            </a:r>
            <a:r>
              <a:rPr lang="en-US" sz="2800"/>
              <a:t>checkCollisions</a:t>
            </a:r>
            <a:endParaRPr lang="en-US" sz="2800"/>
          </a:p>
          <a:p>
            <a:pPr>
              <a:lnSpc>
                <a:spcPct val="100000"/>
              </a:lnSpc>
            </a:pPr>
            <a:r>
              <a:rPr lang="en-US" sz="2800"/>
              <a:t>    </a:t>
            </a:r>
            <a:r>
              <a:rPr lang="en-US" sz="2800">
                <a:solidFill>
                  <a:srgbClr val="FF6600"/>
                </a:solidFill>
                <a:sym typeface="+mn-ea"/>
              </a:rPr>
              <a:t>call </a:t>
            </a:r>
            <a:r>
              <a:rPr lang="en-US" sz="2800"/>
              <a:t>move</a:t>
            </a:r>
            <a:endParaRPr lang="en-US" sz="2800"/>
          </a:p>
          <a:p>
            <a:pPr>
              <a:lnSpc>
                <a:spcPct val="100000"/>
              </a:lnSpc>
            </a:pPr>
            <a:r>
              <a:rPr lang="en-US" sz="2800"/>
              <a:t>    </a:t>
            </a:r>
            <a:r>
              <a:rPr lang="en-US" sz="2800">
                <a:solidFill>
                  <a:srgbClr val="FF6600"/>
                </a:solidFill>
                <a:sym typeface="+mn-ea"/>
              </a:rPr>
              <a:t>call </a:t>
            </a:r>
            <a:r>
              <a:rPr lang="en-US" sz="2800"/>
              <a:t>render</a:t>
            </a:r>
            <a:endParaRPr lang="en-US" sz="2800"/>
          </a:p>
          <a:p>
            <a:pPr>
              <a:lnSpc>
                <a:spcPct val="100000"/>
              </a:lnSpc>
            </a:pPr>
            <a:r>
              <a:rPr lang="en-US" sz="2800"/>
              <a:t>    </a:t>
            </a:r>
            <a:r>
              <a:rPr lang="en-US" sz="2800">
                <a:solidFill>
                  <a:schemeClr val="bg1">
                    <a:lumMod val="50000"/>
                  </a:schemeClr>
                </a:solidFill>
              </a:rPr>
              <a:t>// etc</a:t>
            </a:r>
            <a:endParaRPr lang="en-US" sz="2800">
              <a:solidFill>
                <a:schemeClr val="bg1">
                  <a:lumMod val="50000"/>
                </a:schemeClr>
              </a:solidFill>
            </a:endParaRPr>
          </a:p>
        </p:txBody>
      </p:sp>
      <p:sp>
        <p:nvSpPr>
          <p:cNvPr id="6" name="Text Box 5"/>
          <p:cNvSpPr txBox="1"/>
          <p:nvPr/>
        </p:nvSpPr>
        <p:spPr>
          <a:xfrm>
            <a:off x="6558280" y="3489325"/>
            <a:ext cx="4571365" cy="26765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800">
                <a:solidFill>
                  <a:srgbClr val="FF6600"/>
                </a:solidFill>
              </a:rPr>
              <a:t>For each </a:t>
            </a:r>
            <a:r>
              <a:rPr lang="en-US" sz="2800"/>
              <a:t>Enemy</a:t>
            </a:r>
            <a:endParaRPr lang="en-US" sz="2800"/>
          </a:p>
          <a:p>
            <a:pPr>
              <a:lnSpc>
                <a:spcPct val="100000"/>
              </a:lnSpc>
            </a:pPr>
            <a:r>
              <a:rPr lang="en-US" sz="2800"/>
              <a:t>    </a:t>
            </a:r>
            <a:r>
              <a:rPr lang="en-US" sz="2800">
                <a:solidFill>
                  <a:srgbClr val="FF6600"/>
                </a:solidFill>
              </a:rPr>
              <a:t>call </a:t>
            </a:r>
            <a:r>
              <a:rPr lang="en-US" sz="2800"/>
              <a:t>updatePhysics</a:t>
            </a:r>
            <a:endParaRPr lang="en-US" sz="2800"/>
          </a:p>
          <a:p>
            <a:pPr>
              <a:lnSpc>
                <a:spcPct val="100000"/>
              </a:lnSpc>
            </a:pPr>
            <a:r>
              <a:rPr lang="en-US" sz="2800"/>
              <a:t>    </a:t>
            </a:r>
            <a:r>
              <a:rPr lang="en-US" sz="2800">
                <a:solidFill>
                  <a:srgbClr val="FF6600"/>
                </a:solidFill>
                <a:sym typeface="+mn-ea"/>
              </a:rPr>
              <a:t>call </a:t>
            </a:r>
            <a:r>
              <a:rPr lang="en-US" sz="2800"/>
              <a:t>checkCollisions</a:t>
            </a:r>
            <a:endParaRPr lang="en-US" sz="2800"/>
          </a:p>
          <a:p>
            <a:pPr>
              <a:lnSpc>
                <a:spcPct val="100000"/>
              </a:lnSpc>
            </a:pPr>
            <a:r>
              <a:rPr lang="en-US" sz="2800"/>
              <a:t>    </a:t>
            </a:r>
            <a:r>
              <a:rPr lang="en-US" sz="2800">
                <a:solidFill>
                  <a:srgbClr val="FF6600"/>
                </a:solidFill>
                <a:sym typeface="+mn-ea"/>
              </a:rPr>
              <a:t>call </a:t>
            </a:r>
            <a:r>
              <a:rPr lang="en-US" sz="2800"/>
              <a:t>move</a:t>
            </a:r>
            <a:endParaRPr lang="en-US" sz="2800"/>
          </a:p>
          <a:p>
            <a:pPr>
              <a:lnSpc>
                <a:spcPct val="100000"/>
              </a:lnSpc>
            </a:pPr>
            <a:r>
              <a:rPr lang="en-US" sz="2800"/>
              <a:t>    </a:t>
            </a:r>
            <a:r>
              <a:rPr lang="en-US" sz="2800">
                <a:solidFill>
                  <a:srgbClr val="FF6600"/>
                </a:solidFill>
                <a:sym typeface="+mn-ea"/>
              </a:rPr>
              <a:t>call </a:t>
            </a:r>
            <a:r>
              <a:rPr lang="en-US" sz="2800"/>
              <a:t>render</a:t>
            </a:r>
            <a:endParaRPr lang="en-US" sz="2800"/>
          </a:p>
          <a:p>
            <a:pPr>
              <a:lnSpc>
                <a:spcPct val="100000"/>
              </a:lnSpc>
            </a:pPr>
            <a:r>
              <a:rPr lang="en-US" sz="2800"/>
              <a:t>    </a:t>
            </a:r>
            <a:r>
              <a:rPr lang="en-US" sz="2800">
                <a:solidFill>
                  <a:schemeClr val="bg1">
                    <a:lumMod val="50000"/>
                  </a:schemeClr>
                </a:solidFill>
              </a:rPr>
              <a:t>// etc</a:t>
            </a:r>
            <a:endParaRPr lang="en-US" sz="2800">
              <a:solidFill>
                <a:schemeClr val="bg1">
                  <a:lumMod val="50000"/>
                </a:schemeClr>
              </a:solidFill>
            </a:endParaRPr>
          </a:p>
        </p:txBody>
      </p:sp>
      <p:cxnSp>
        <p:nvCxnSpPr>
          <p:cNvPr id="7" name="Curved Connector 6"/>
          <p:cNvCxnSpPr/>
          <p:nvPr/>
        </p:nvCxnSpPr>
        <p:spPr>
          <a:xfrm flipV="1">
            <a:off x="4676775" y="3686175"/>
            <a:ext cx="5657850" cy="2266950"/>
          </a:xfrm>
          <a:prstGeom prst="curvedConnector3">
            <a:avLst>
              <a:gd name="adj1" fmla="val 16677"/>
            </a:avLst>
          </a:prstGeom>
          <a:gradFill rotWithShape="0">
            <a:gsLst>
              <a:gs pos="0">
                <a:schemeClr val="accent1"/>
              </a:gs>
              <a:gs pos="100000">
                <a:schemeClr val="accent2"/>
              </a:gs>
            </a:gsLst>
            <a:lin ang="5400000" scaled="1"/>
          </a:gradFill>
          <a:ln w="79375" cap="flat" cmpd="sng" algn="ctr">
            <a:solidFill>
              <a:schemeClr val="accent1"/>
            </a:solidFill>
            <a:prstDash val="solid"/>
            <a:round/>
            <a:headEnd type="none" w="med" len="med"/>
            <a:tailEnd type="arrow" w="med" len="med"/>
          </a:ln>
        </p:spPr>
      </p:cxnSp>
      <p:cxnSp>
        <p:nvCxnSpPr>
          <p:cNvPr id="4" name="Straight Arrow Connector 3"/>
          <p:cNvCxnSpPr/>
          <p:nvPr/>
        </p:nvCxnSpPr>
        <p:spPr>
          <a:xfrm>
            <a:off x="4200525" y="3648075"/>
            <a:ext cx="0" cy="2114550"/>
          </a:xfrm>
          <a:prstGeom prst="straightConnector1">
            <a:avLst/>
          </a:prstGeom>
          <a:gradFill rotWithShape="0">
            <a:gsLst>
              <a:gs pos="0">
                <a:schemeClr val="accent1"/>
              </a:gs>
              <a:gs pos="100000">
                <a:schemeClr val="accent2"/>
              </a:gs>
            </a:gsLst>
            <a:lin ang="5400000" scaled="1"/>
          </a:gradFill>
          <a:ln w="79375" cap="flat" cmpd="sng" algn="ctr">
            <a:solidFill>
              <a:schemeClr val="accent1"/>
            </a:solidFill>
            <a:prstDash val="solid"/>
            <a:round/>
            <a:headEnd type="none" w="med" len="med"/>
            <a:tailEnd type="arrow" w="med" len="med"/>
          </a:ln>
        </p:spPr>
      </p:cxnSp>
      <p:sp>
        <p:nvSpPr>
          <p:cNvPr id="8" name="Text Box 7"/>
          <p:cNvSpPr txBox="1"/>
          <p:nvPr/>
        </p:nvSpPr>
        <p:spPr>
          <a:xfrm>
            <a:off x="11383645" y="304165"/>
            <a:ext cx="492125" cy="368300"/>
          </a:xfrm>
          <a:prstGeom prst="rect">
            <a:avLst/>
          </a:prstGeom>
          <a:noFill/>
        </p:spPr>
        <p:txBody>
          <a:bodyPr wrap="square" rtlCol="0">
            <a:spAutoFit/>
          </a:bodyPr>
          <a:p>
            <a:r>
              <a:rPr lang="pt-PT" altLang="en-US"/>
              <a:t>8</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1000">
        <p:wipe dir="r"/>
      </p:transition>
    </mc:Choice>
    <mc:Fallback>
      <p:transition spd="slow">
        <p:wipe dir="r"/>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Problem: Memory Locallity</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49580" y="1285875"/>
            <a:ext cx="11287125" cy="1076325"/>
          </a:xfrm>
          <a:prstGeom prst="rect">
            <a:avLst/>
          </a:prstGeom>
          <a:noFill/>
        </p:spPr>
        <p:txBody>
          <a:bodyPr wrap="square" rtlCol="0">
            <a:spAutoFit/>
          </a:bodyPr>
          <a:p>
            <a:r>
              <a:rPr lang="pt-PT" sz="3200"/>
              <a:t>W</a:t>
            </a:r>
            <a:r>
              <a:rPr sz="3200"/>
              <a:t>hen iterating in the non ECS way, you are looping in the data of the entire object first before going to the next object.</a:t>
            </a:r>
            <a:endParaRPr sz="3200"/>
          </a:p>
        </p:txBody>
      </p:sp>
      <p:sp>
        <p:nvSpPr>
          <p:cNvPr id="5" name="Text Box 4"/>
          <p:cNvSpPr txBox="1"/>
          <p:nvPr/>
        </p:nvSpPr>
        <p:spPr>
          <a:xfrm>
            <a:off x="449580" y="3489325"/>
            <a:ext cx="4571365" cy="26765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800">
                <a:solidFill>
                  <a:srgbClr val="FF6600"/>
                </a:solidFill>
              </a:rPr>
              <a:t>For each </a:t>
            </a:r>
            <a:r>
              <a:rPr lang="en-US" sz="2800"/>
              <a:t>Enemy</a:t>
            </a:r>
            <a:endParaRPr lang="en-US" sz="2800"/>
          </a:p>
          <a:p>
            <a:pPr>
              <a:lnSpc>
                <a:spcPct val="100000"/>
              </a:lnSpc>
            </a:pPr>
            <a:r>
              <a:rPr lang="en-US" sz="2800"/>
              <a:t>    </a:t>
            </a:r>
            <a:r>
              <a:rPr lang="en-US" sz="2800">
                <a:solidFill>
                  <a:srgbClr val="FF6600"/>
                </a:solidFill>
              </a:rPr>
              <a:t>call </a:t>
            </a:r>
            <a:r>
              <a:rPr lang="en-US" sz="2800"/>
              <a:t>updatePhysics</a:t>
            </a:r>
            <a:endParaRPr lang="en-US" sz="2800"/>
          </a:p>
          <a:p>
            <a:pPr>
              <a:lnSpc>
                <a:spcPct val="100000"/>
              </a:lnSpc>
            </a:pPr>
            <a:r>
              <a:rPr lang="en-US" sz="2800"/>
              <a:t>    </a:t>
            </a:r>
            <a:r>
              <a:rPr lang="en-US" sz="2800">
                <a:solidFill>
                  <a:srgbClr val="FF6600"/>
                </a:solidFill>
                <a:sym typeface="+mn-ea"/>
              </a:rPr>
              <a:t>call </a:t>
            </a:r>
            <a:r>
              <a:rPr lang="en-US" sz="2800"/>
              <a:t>checkCollisions</a:t>
            </a:r>
            <a:endParaRPr lang="en-US" sz="2800"/>
          </a:p>
          <a:p>
            <a:pPr>
              <a:lnSpc>
                <a:spcPct val="100000"/>
              </a:lnSpc>
            </a:pPr>
            <a:r>
              <a:rPr lang="en-US" sz="2800"/>
              <a:t>    </a:t>
            </a:r>
            <a:r>
              <a:rPr lang="en-US" sz="2800">
                <a:solidFill>
                  <a:srgbClr val="FF6600"/>
                </a:solidFill>
                <a:sym typeface="+mn-ea"/>
              </a:rPr>
              <a:t>call </a:t>
            </a:r>
            <a:r>
              <a:rPr lang="en-US" sz="2800"/>
              <a:t>move</a:t>
            </a:r>
            <a:endParaRPr lang="en-US" sz="2800"/>
          </a:p>
          <a:p>
            <a:pPr>
              <a:lnSpc>
                <a:spcPct val="100000"/>
              </a:lnSpc>
            </a:pPr>
            <a:r>
              <a:rPr lang="en-US" sz="2800"/>
              <a:t>    </a:t>
            </a:r>
            <a:r>
              <a:rPr lang="en-US" sz="2800">
                <a:solidFill>
                  <a:srgbClr val="FF6600"/>
                </a:solidFill>
                <a:sym typeface="+mn-ea"/>
              </a:rPr>
              <a:t>call </a:t>
            </a:r>
            <a:r>
              <a:rPr lang="en-US" sz="2800"/>
              <a:t>render</a:t>
            </a:r>
            <a:endParaRPr lang="en-US" sz="2800"/>
          </a:p>
          <a:p>
            <a:pPr>
              <a:lnSpc>
                <a:spcPct val="100000"/>
              </a:lnSpc>
            </a:pPr>
            <a:r>
              <a:rPr lang="en-US" sz="2800"/>
              <a:t>    </a:t>
            </a:r>
            <a:r>
              <a:rPr lang="en-US" sz="2800">
                <a:solidFill>
                  <a:schemeClr val="bg1">
                    <a:lumMod val="50000"/>
                  </a:schemeClr>
                </a:solidFill>
              </a:rPr>
              <a:t>// etc</a:t>
            </a:r>
            <a:endParaRPr lang="en-US" sz="2800">
              <a:solidFill>
                <a:schemeClr val="bg1">
                  <a:lumMod val="50000"/>
                </a:schemeClr>
              </a:solidFill>
            </a:endParaRPr>
          </a:p>
        </p:txBody>
      </p:sp>
      <p:sp>
        <p:nvSpPr>
          <p:cNvPr id="6" name="Text Box 5"/>
          <p:cNvSpPr txBox="1"/>
          <p:nvPr/>
        </p:nvSpPr>
        <p:spPr>
          <a:xfrm>
            <a:off x="6558280" y="3489325"/>
            <a:ext cx="4571365" cy="26765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800">
                <a:solidFill>
                  <a:srgbClr val="FF6600"/>
                </a:solidFill>
              </a:rPr>
              <a:t>For each </a:t>
            </a:r>
            <a:r>
              <a:rPr lang="en-US" sz="2800"/>
              <a:t>Enemy</a:t>
            </a:r>
            <a:endParaRPr lang="en-US" sz="2800"/>
          </a:p>
          <a:p>
            <a:pPr>
              <a:lnSpc>
                <a:spcPct val="100000"/>
              </a:lnSpc>
            </a:pPr>
            <a:r>
              <a:rPr lang="en-US" sz="2800"/>
              <a:t>    </a:t>
            </a:r>
            <a:r>
              <a:rPr lang="en-US" sz="2800">
                <a:solidFill>
                  <a:srgbClr val="FF6600"/>
                </a:solidFill>
              </a:rPr>
              <a:t>call </a:t>
            </a:r>
            <a:r>
              <a:rPr lang="en-US" sz="2800"/>
              <a:t>updatePhysics</a:t>
            </a:r>
            <a:endParaRPr lang="en-US" sz="2800"/>
          </a:p>
          <a:p>
            <a:pPr>
              <a:lnSpc>
                <a:spcPct val="100000"/>
              </a:lnSpc>
            </a:pPr>
            <a:r>
              <a:rPr lang="en-US" sz="2800"/>
              <a:t>    </a:t>
            </a:r>
            <a:r>
              <a:rPr lang="en-US" sz="2800">
                <a:solidFill>
                  <a:srgbClr val="FF6600"/>
                </a:solidFill>
                <a:sym typeface="+mn-ea"/>
              </a:rPr>
              <a:t>call </a:t>
            </a:r>
            <a:r>
              <a:rPr lang="en-US" sz="2800"/>
              <a:t>checkCollisions</a:t>
            </a:r>
            <a:endParaRPr lang="en-US" sz="2800"/>
          </a:p>
          <a:p>
            <a:pPr>
              <a:lnSpc>
                <a:spcPct val="100000"/>
              </a:lnSpc>
            </a:pPr>
            <a:r>
              <a:rPr lang="en-US" sz="2800"/>
              <a:t>    </a:t>
            </a:r>
            <a:r>
              <a:rPr lang="en-US" sz="2800">
                <a:solidFill>
                  <a:srgbClr val="FF6600"/>
                </a:solidFill>
                <a:sym typeface="+mn-ea"/>
              </a:rPr>
              <a:t>call </a:t>
            </a:r>
            <a:r>
              <a:rPr lang="en-US" sz="2800"/>
              <a:t>move</a:t>
            </a:r>
            <a:endParaRPr lang="en-US" sz="2800"/>
          </a:p>
          <a:p>
            <a:pPr>
              <a:lnSpc>
                <a:spcPct val="100000"/>
              </a:lnSpc>
            </a:pPr>
            <a:r>
              <a:rPr lang="en-US" sz="2800"/>
              <a:t>    </a:t>
            </a:r>
            <a:r>
              <a:rPr lang="en-US" sz="2800">
                <a:solidFill>
                  <a:srgbClr val="FF6600"/>
                </a:solidFill>
                <a:sym typeface="+mn-ea"/>
              </a:rPr>
              <a:t>call </a:t>
            </a:r>
            <a:r>
              <a:rPr lang="en-US" sz="2800"/>
              <a:t>render</a:t>
            </a:r>
            <a:endParaRPr lang="en-US" sz="2800"/>
          </a:p>
          <a:p>
            <a:pPr>
              <a:lnSpc>
                <a:spcPct val="100000"/>
              </a:lnSpc>
            </a:pPr>
            <a:r>
              <a:rPr lang="en-US" sz="2800"/>
              <a:t>    </a:t>
            </a:r>
            <a:r>
              <a:rPr lang="en-US" sz="2800">
                <a:solidFill>
                  <a:schemeClr val="bg1">
                    <a:lumMod val="50000"/>
                  </a:schemeClr>
                </a:solidFill>
              </a:rPr>
              <a:t>// etc</a:t>
            </a:r>
            <a:endParaRPr lang="en-US" sz="2800">
              <a:solidFill>
                <a:schemeClr val="bg1">
                  <a:lumMod val="50000"/>
                </a:schemeClr>
              </a:solidFill>
            </a:endParaRPr>
          </a:p>
        </p:txBody>
      </p:sp>
      <p:cxnSp>
        <p:nvCxnSpPr>
          <p:cNvPr id="7" name="Curved Connector 6"/>
          <p:cNvCxnSpPr/>
          <p:nvPr/>
        </p:nvCxnSpPr>
        <p:spPr>
          <a:xfrm flipV="1">
            <a:off x="4676775" y="3686175"/>
            <a:ext cx="5657850" cy="2266950"/>
          </a:xfrm>
          <a:prstGeom prst="curvedConnector3">
            <a:avLst>
              <a:gd name="adj1" fmla="val 16677"/>
            </a:avLst>
          </a:prstGeom>
          <a:gradFill rotWithShape="0">
            <a:gsLst>
              <a:gs pos="0">
                <a:schemeClr val="accent1"/>
              </a:gs>
              <a:gs pos="100000">
                <a:schemeClr val="accent2"/>
              </a:gs>
            </a:gsLst>
            <a:lin ang="5400000" scaled="1"/>
          </a:gradFill>
          <a:ln w="79375" cap="flat" cmpd="sng" algn="ctr">
            <a:solidFill>
              <a:schemeClr val="accent1"/>
            </a:solidFill>
            <a:prstDash val="solid"/>
            <a:round/>
            <a:headEnd type="none" w="med" len="med"/>
            <a:tailEnd type="arrow" w="med" len="med"/>
          </a:ln>
        </p:spPr>
      </p:cxnSp>
      <p:cxnSp>
        <p:nvCxnSpPr>
          <p:cNvPr id="4" name="Straight Arrow Connector 3"/>
          <p:cNvCxnSpPr/>
          <p:nvPr/>
        </p:nvCxnSpPr>
        <p:spPr>
          <a:xfrm>
            <a:off x="4200525" y="3648075"/>
            <a:ext cx="0" cy="2114550"/>
          </a:xfrm>
          <a:prstGeom prst="straightConnector1">
            <a:avLst/>
          </a:prstGeom>
          <a:gradFill rotWithShape="0">
            <a:gsLst>
              <a:gs pos="0">
                <a:schemeClr val="accent1"/>
              </a:gs>
              <a:gs pos="100000">
                <a:schemeClr val="accent2"/>
              </a:gs>
            </a:gsLst>
            <a:lin ang="5400000" scaled="1"/>
          </a:gradFill>
          <a:ln w="79375" cap="flat" cmpd="sng" algn="ctr">
            <a:solidFill>
              <a:schemeClr val="accent1"/>
            </a:solidFill>
            <a:prstDash val="solid"/>
            <a:round/>
            <a:headEnd type="none" w="med" len="med"/>
            <a:tailEnd type="arrow" w="med" len="med"/>
          </a:ln>
        </p:spPr>
      </p:cxnSp>
      <p:cxnSp>
        <p:nvCxnSpPr>
          <p:cNvPr id="8" name="Straight Arrow Connector 7"/>
          <p:cNvCxnSpPr/>
          <p:nvPr/>
        </p:nvCxnSpPr>
        <p:spPr>
          <a:xfrm>
            <a:off x="10499725" y="3648075"/>
            <a:ext cx="0" cy="2114550"/>
          </a:xfrm>
          <a:prstGeom prst="straightConnector1">
            <a:avLst/>
          </a:prstGeom>
          <a:gradFill rotWithShape="0">
            <a:gsLst>
              <a:gs pos="0">
                <a:schemeClr val="accent1"/>
              </a:gs>
              <a:gs pos="100000">
                <a:schemeClr val="accent2"/>
              </a:gs>
            </a:gsLst>
            <a:lin ang="5400000" scaled="1"/>
          </a:gradFill>
          <a:ln w="79375" cap="flat" cmpd="sng" algn="ctr">
            <a:solidFill>
              <a:schemeClr val="accent1"/>
            </a:solidFill>
            <a:prstDash val="solid"/>
            <a:round/>
            <a:headEnd type="none" w="med" len="med"/>
            <a:tailEnd type="arrow" w="med" len="med"/>
          </a:ln>
        </p:spPr>
      </p:cxnSp>
      <p:sp>
        <p:nvSpPr>
          <p:cNvPr id="9" name="Text Box 8"/>
          <p:cNvSpPr txBox="1"/>
          <p:nvPr/>
        </p:nvSpPr>
        <p:spPr>
          <a:xfrm>
            <a:off x="11383645" y="304165"/>
            <a:ext cx="492125" cy="368300"/>
          </a:xfrm>
          <a:prstGeom prst="rect">
            <a:avLst/>
          </a:prstGeom>
          <a:noFill/>
        </p:spPr>
        <p:txBody>
          <a:bodyPr wrap="square" rtlCol="0">
            <a:spAutoFit/>
          </a:bodyPr>
          <a:p>
            <a:r>
              <a:rPr lang="pt-PT" altLang="en-US"/>
              <a:t>9</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1000">
        <p:wipe dir="d"/>
      </p:transition>
    </mc:Choice>
    <mc:Fallback>
      <p:transition spd="slow">
        <p:wipe dir="d"/>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Problem: Memory Locallity</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52755" y="1010920"/>
            <a:ext cx="11287125" cy="1568450"/>
          </a:xfrm>
          <a:prstGeom prst="rect">
            <a:avLst/>
          </a:prstGeom>
          <a:noFill/>
        </p:spPr>
        <p:txBody>
          <a:bodyPr wrap="square" rtlCol="0">
            <a:spAutoFit/>
          </a:bodyPr>
          <a:p>
            <a:r>
              <a:rPr sz="3200"/>
              <a:t>It is possible to clearly see the cost by doing a simple test. </a:t>
            </a:r>
            <a:r>
              <a:rPr sz="3200" i="1"/>
              <a:t>Exempli gratia</a:t>
            </a:r>
            <a:r>
              <a:rPr lang="pt-PT" sz="3200"/>
              <a:t>, </a:t>
            </a:r>
            <a:r>
              <a:rPr sz="3200"/>
              <a:t>writing a small loop to sum all elements of a matrix:</a:t>
            </a:r>
            <a:endParaRPr sz="3200"/>
          </a:p>
        </p:txBody>
      </p:sp>
      <p:sp>
        <p:nvSpPr>
          <p:cNvPr id="9" name="Text Box 8"/>
          <p:cNvSpPr txBox="1"/>
          <p:nvPr/>
        </p:nvSpPr>
        <p:spPr>
          <a:xfrm>
            <a:off x="449580" y="2579370"/>
            <a:ext cx="11290300" cy="4030980"/>
          </a:xfrm>
          <a:prstGeom prst="rect">
            <a:avLst/>
          </a:prstGeom>
        </p:spPr>
        <p:style>
          <a:lnRef idx="2">
            <a:schemeClr val="accent2"/>
          </a:lnRef>
          <a:fillRef idx="1">
            <a:schemeClr val="lt1"/>
          </a:fillRef>
          <a:effectRef idx="0">
            <a:schemeClr val="accent2"/>
          </a:effectRef>
          <a:fontRef idx="minor">
            <a:schemeClr val="dk1"/>
          </a:fontRef>
        </p:style>
        <p:txBody>
          <a:bodyPr wrap="square" rtlCol="0" anchor="t">
            <a:spAutoFit/>
          </a:bodyPr>
          <a:p>
            <a:r>
              <a:rPr lang="pt-PT" altLang="en-US" sz="3200">
                <a:solidFill>
                  <a:schemeClr val="bg1">
                    <a:lumMod val="50000"/>
                  </a:schemeClr>
                </a:solidFill>
                <a:sym typeface="+mn-ea"/>
              </a:rPr>
              <a:t>// sum all elements of matrix</a:t>
            </a:r>
            <a:endParaRPr lang="en-US" sz="3200">
              <a:solidFill>
                <a:srgbClr val="FF6600"/>
              </a:solidFill>
            </a:endParaRPr>
          </a:p>
          <a:p>
            <a:r>
              <a:rPr lang="en-US" sz="3200">
                <a:solidFill>
                  <a:srgbClr val="FF6600"/>
                </a:solidFill>
              </a:rPr>
              <a:t>For each</a:t>
            </a:r>
            <a:r>
              <a:rPr lang="en-US" sz="3200"/>
              <a:t> column index j from </a:t>
            </a:r>
            <a:r>
              <a:rPr lang="en-US" sz="3200">
                <a:solidFill>
                  <a:srgbClr val="FF0000"/>
                </a:solidFill>
              </a:rPr>
              <a:t>0</a:t>
            </a:r>
            <a:r>
              <a:rPr lang="en-US" sz="3200"/>
              <a:t> to colsA </a:t>
            </a:r>
            <a:r>
              <a:rPr lang="en-US" sz="3200">
                <a:solidFill>
                  <a:srgbClr val="0070C0"/>
                </a:solidFill>
              </a:rPr>
              <a:t>-</a:t>
            </a:r>
            <a:r>
              <a:rPr lang="en-US" sz="3200"/>
              <a:t> </a:t>
            </a:r>
            <a:r>
              <a:rPr lang="en-US" sz="3200">
                <a:solidFill>
                  <a:srgbClr val="FF0000"/>
                </a:solidFill>
              </a:rPr>
              <a:t>1</a:t>
            </a:r>
            <a:endParaRPr lang="en-US" sz="3200"/>
          </a:p>
          <a:p>
            <a:r>
              <a:rPr lang="en-US" sz="3200"/>
              <a:t>    </a:t>
            </a:r>
            <a:r>
              <a:rPr lang="en-US" sz="3200">
                <a:solidFill>
                  <a:srgbClr val="FF6600"/>
                </a:solidFill>
              </a:rPr>
              <a:t>For each</a:t>
            </a:r>
            <a:r>
              <a:rPr lang="en-US" sz="3200"/>
              <a:t> row index i from </a:t>
            </a:r>
            <a:r>
              <a:rPr lang="en-US" sz="3200">
                <a:solidFill>
                  <a:srgbClr val="FF0000"/>
                </a:solidFill>
              </a:rPr>
              <a:t>0</a:t>
            </a:r>
            <a:r>
              <a:rPr lang="en-US" sz="3200"/>
              <a:t> to rowsA </a:t>
            </a:r>
            <a:r>
              <a:rPr lang="en-US" sz="3200">
                <a:solidFill>
                  <a:srgbClr val="0070C0"/>
                </a:solidFill>
                <a:sym typeface="+mn-ea"/>
              </a:rPr>
              <a:t>-</a:t>
            </a:r>
            <a:r>
              <a:rPr lang="en-US" sz="3200">
                <a:sym typeface="+mn-ea"/>
              </a:rPr>
              <a:t> </a:t>
            </a:r>
            <a:r>
              <a:rPr lang="en-US" sz="3200">
                <a:solidFill>
                  <a:srgbClr val="FF0000"/>
                </a:solidFill>
                <a:sym typeface="+mn-ea"/>
              </a:rPr>
              <a:t>1</a:t>
            </a:r>
            <a:endParaRPr lang="en-US" sz="3200"/>
          </a:p>
          <a:p>
            <a:r>
              <a:rPr lang="en-US" sz="3200"/>
              <a:t>        Add element A</a:t>
            </a:r>
            <a:r>
              <a:rPr lang="en-US" sz="3200">
                <a:solidFill>
                  <a:srgbClr val="0070C0"/>
                </a:solidFill>
              </a:rPr>
              <a:t>[</a:t>
            </a:r>
            <a:r>
              <a:rPr lang="en-US" sz="3200"/>
              <a:t>i</a:t>
            </a:r>
            <a:r>
              <a:rPr lang="en-US" sz="3200">
                <a:solidFill>
                  <a:srgbClr val="0070C0"/>
                </a:solidFill>
              </a:rPr>
              <a:t>][</a:t>
            </a:r>
            <a:r>
              <a:rPr lang="en-US" sz="3200"/>
              <a:t>j</a:t>
            </a:r>
            <a:r>
              <a:rPr lang="en-US" sz="3200">
                <a:solidFill>
                  <a:srgbClr val="0070C0"/>
                </a:solidFill>
              </a:rPr>
              <a:t>]</a:t>
            </a:r>
            <a:r>
              <a:rPr lang="en-US" sz="3200"/>
              <a:t> to result</a:t>
            </a:r>
            <a:endParaRPr lang="en-US" sz="3200"/>
          </a:p>
          <a:p>
            <a:endParaRPr lang="en-US" sz="3200"/>
          </a:p>
          <a:p>
            <a:r>
              <a:rPr lang="en-US" sz="3200">
                <a:solidFill>
                  <a:srgbClr val="FF6600"/>
                </a:solidFill>
              </a:rPr>
              <a:t>For each</a:t>
            </a:r>
            <a:r>
              <a:rPr lang="en-US" sz="3200"/>
              <a:t> row index i from </a:t>
            </a:r>
            <a:r>
              <a:rPr lang="en-US" sz="3200">
                <a:solidFill>
                  <a:srgbClr val="FF0000"/>
                </a:solidFill>
                <a:sym typeface="+mn-ea"/>
              </a:rPr>
              <a:t>0</a:t>
            </a:r>
            <a:r>
              <a:rPr lang="en-US" sz="3200"/>
              <a:t> to rowsA </a:t>
            </a:r>
            <a:r>
              <a:rPr lang="en-US" sz="3200">
                <a:solidFill>
                  <a:srgbClr val="0070C0"/>
                </a:solidFill>
                <a:sym typeface="+mn-ea"/>
              </a:rPr>
              <a:t>-</a:t>
            </a:r>
            <a:r>
              <a:rPr lang="en-US" sz="3200">
                <a:sym typeface="+mn-ea"/>
              </a:rPr>
              <a:t> </a:t>
            </a:r>
            <a:r>
              <a:rPr lang="en-US" sz="3200">
                <a:solidFill>
                  <a:srgbClr val="FF0000"/>
                </a:solidFill>
                <a:sym typeface="+mn-ea"/>
              </a:rPr>
              <a:t>1</a:t>
            </a:r>
            <a:endParaRPr lang="en-US" sz="3200"/>
          </a:p>
          <a:p>
            <a:r>
              <a:rPr lang="en-US" sz="3200"/>
              <a:t>    </a:t>
            </a:r>
            <a:r>
              <a:rPr lang="en-US" sz="3200">
                <a:solidFill>
                  <a:srgbClr val="FF6600"/>
                </a:solidFill>
              </a:rPr>
              <a:t>For each</a:t>
            </a:r>
            <a:r>
              <a:rPr lang="en-US" sz="3200"/>
              <a:t> column index j from </a:t>
            </a:r>
            <a:r>
              <a:rPr lang="en-US" sz="3200">
                <a:solidFill>
                  <a:srgbClr val="FF0000"/>
                </a:solidFill>
                <a:sym typeface="+mn-ea"/>
              </a:rPr>
              <a:t>0</a:t>
            </a:r>
            <a:r>
              <a:rPr lang="pt-PT" altLang="en-US" sz="3200">
                <a:solidFill>
                  <a:srgbClr val="FF0000"/>
                </a:solidFill>
                <a:sym typeface="+mn-ea"/>
              </a:rPr>
              <a:t> </a:t>
            </a:r>
            <a:r>
              <a:rPr lang="en-US" sz="3200"/>
              <a:t>to colsA </a:t>
            </a:r>
            <a:r>
              <a:rPr lang="en-US" sz="3200">
                <a:solidFill>
                  <a:srgbClr val="0070C0"/>
                </a:solidFill>
                <a:sym typeface="+mn-ea"/>
              </a:rPr>
              <a:t>-</a:t>
            </a:r>
            <a:r>
              <a:rPr lang="en-US" sz="3200">
                <a:sym typeface="+mn-ea"/>
              </a:rPr>
              <a:t> </a:t>
            </a:r>
            <a:r>
              <a:rPr lang="en-US" sz="3200">
                <a:solidFill>
                  <a:srgbClr val="FF0000"/>
                </a:solidFill>
                <a:sym typeface="+mn-ea"/>
              </a:rPr>
              <a:t>1</a:t>
            </a:r>
            <a:endParaRPr lang="en-US" sz="3200"/>
          </a:p>
          <a:p>
            <a:r>
              <a:rPr lang="en-US" sz="3200"/>
              <a:t>        Add element</a:t>
            </a:r>
            <a:r>
              <a:rPr lang="pt-PT" altLang="en-US" sz="3200"/>
              <a:t> </a:t>
            </a:r>
            <a:r>
              <a:rPr lang="en-US" sz="3200">
                <a:sym typeface="+mn-ea"/>
              </a:rPr>
              <a:t>A</a:t>
            </a:r>
            <a:r>
              <a:rPr lang="en-US" sz="3200">
                <a:solidFill>
                  <a:srgbClr val="0070C0"/>
                </a:solidFill>
                <a:sym typeface="+mn-ea"/>
              </a:rPr>
              <a:t>[</a:t>
            </a:r>
            <a:r>
              <a:rPr lang="en-US" sz="3200">
                <a:sym typeface="+mn-ea"/>
              </a:rPr>
              <a:t>i</a:t>
            </a:r>
            <a:r>
              <a:rPr lang="en-US" sz="3200">
                <a:solidFill>
                  <a:srgbClr val="0070C0"/>
                </a:solidFill>
                <a:sym typeface="+mn-ea"/>
              </a:rPr>
              <a:t>][</a:t>
            </a:r>
            <a:r>
              <a:rPr lang="en-US" sz="3200">
                <a:sym typeface="+mn-ea"/>
              </a:rPr>
              <a:t>j</a:t>
            </a:r>
            <a:r>
              <a:rPr lang="en-US" sz="3200">
                <a:solidFill>
                  <a:srgbClr val="0070C0"/>
                </a:solidFill>
                <a:sym typeface="+mn-ea"/>
              </a:rPr>
              <a:t>]</a:t>
            </a:r>
            <a:r>
              <a:rPr lang="en-US" sz="3200"/>
              <a:t> to result</a:t>
            </a:r>
            <a:endParaRPr lang="en-US" sz="3200"/>
          </a:p>
        </p:txBody>
      </p:sp>
      <p:sp>
        <p:nvSpPr>
          <p:cNvPr id="4" name="Text Box 3"/>
          <p:cNvSpPr txBox="1"/>
          <p:nvPr/>
        </p:nvSpPr>
        <p:spPr>
          <a:xfrm>
            <a:off x="11383645" y="304165"/>
            <a:ext cx="492125" cy="368300"/>
          </a:xfrm>
          <a:prstGeom prst="rect">
            <a:avLst/>
          </a:prstGeom>
          <a:noFill/>
        </p:spPr>
        <p:txBody>
          <a:bodyPr wrap="square" rtlCol="0">
            <a:spAutoFit/>
          </a:bodyPr>
          <a:p>
            <a:r>
              <a:rPr lang="pt-PT" altLang="en-US"/>
              <a:t>10</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Problem: Memory Locallity</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52755" y="1010920"/>
            <a:ext cx="11287125" cy="1568450"/>
          </a:xfrm>
          <a:prstGeom prst="rect">
            <a:avLst/>
          </a:prstGeom>
          <a:noFill/>
        </p:spPr>
        <p:txBody>
          <a:bodyPr wrap="square" rtlCol="0">
            <a:spAutoFit/>
          </a:bodyPr>
          <a:p>
            <a:r>
              <a:rPr sz="3200"/>
              <a:t>It is possible to clearly see the cost by doing a simple test. </a:t>
            </a:r>
            <a:r>
              <a:rPr sz="3200" i="1"/>
              <a:t>Exempli gratia</a:t>
            </a:r>
            <a:r>
              <a:rPr lang="pt-PT" sz="3200"/>
              <a:t>, </a:t>
            </a:r>
            <a:r>
              <a:rPr sz="3200"/>
              <a:t>writing a small loop to sum all elements of a matrix:</a:t>
            </a:r>
            <a:endParaRPr sz="3200"/>
          </a:p>
        </p:txBody>
      </p:sp>
      <p:sp>
        <p:nvSpPr>
          <p:cNvPr id="9" name="Text Box 8"/>
          <p:cNvSpPr txBox="1"/>
          <p:nvPr/>
        </p:nvSpPr>
        <p:spPr>
          <a:xfrm>
            <a:off x="449580" y="2579370"/>
            <a:ext cx="11290300" cy="4030980"/>
          </a:xfrm>
          <a:prstGeom prst="rect">
            <a:avLst/>
          </a:prstGeom>
        </p:spPr>
        <p:style>
          <a:lnRef idx="2">
            <a:schemeClr val="accent2"/>
          </a:lnRef>
          <a:fillRef idx="1">
            <a:schemeClr val="lt1"/>
          </a:fillRef>
          <a:effectRef idx="0">
            <a:schemeClr val="accent2"/>
          </a:effectRef>
          <a:fontRef idx="minor">
            <a:schemeClr val="dk1"/>
          </a:fontRef>
        </p:style>
        <p:txBody>
          <a:bodyPr wrap="square" rtlCol="0" anchor="t">
            <a:spAutoFit/>
          </a:bodyPr>
          <a:p>
            <a:r>
              <a:rPr lang="pt-PT" altLang="en-US" sz="3200">
                <a:solidFill>
                  <a:schemeClr val="bg1">
                    <a:lumMod val="50000"/>
                  </a:schemeClr>
                </a:solidFill>
                <a:sym typeface="+mn-ea"/>
              </a:rPr>
              <a:t>// sum all elements of matrix</a:t>
            </a:r>
            <a:endParaRPr lang="en-US" sz="3200">
              <a:solidFill>
                <a:srgbClr val="FF6600"/>
              </a:solidFill>
            </a:endParaRPr>
          </a:p>
          <a:p>
            <a:r>
              <a:rPr lang="en-US" sz="3200">
                <a:solidFill>
                  <a:srgbClr val="FF6600"/>
                </a:solidFill>
              </a:rPr>
              <a:t>For each</a:t>
            </a:r>
            <a:r>
              <a:rPr lang="en-US" sz="3200"/>
              <a:t> column index j from </a:t>
            </a:r>
            <a:r>
              <a:rPr lang="en-US" sz="3200">
                <a:solidFill>
                  <a:srgbClr val="FF0000"/>
                </a:solidFill>
              </a:rPr>
              <a:t>0</a:t>
            </a:r>
            <a:r>
              <a:rPr lang="en-US" sz="3200"/>
              <a:t> to colsA </a:t>
            </a:r>
            <a:r>
              <a:rPr lang="en-US" sz="3200">
                <a:solidFill>
                  <a:srgbClr val="0070C0"/>
                </a:solidFill>
              </a:rPr>
              <a:t>-</a:t>
            </a:r>
            <a:r>
              <a:rPr lang="en-US" sz="3200"/>
              <a:t> </a:t>
            </a:r>
            <a:r>
              <a:rPr lang="en-US" sz="3200">
                <a:solidFill>
                  <a:srgbClr val="FF0000"/>
                </a:solidFill>
              </a:rPr>
              <a:t>1</a:t>
            </a:r>
            <a:endParaRPr lang="en-US" sz="3200"/>
          </a:p>
          <a:p>
            <a:r>
              <a:rPr lang="en-US" sz="3200"/>
              <a:t>    </a:t>
            </a:r>
            <a:r>
              <a:rPr lang="en-US" sz="3200">
                <a:solidFill>
                  <a:srgbClr val="FF6600"/>
                </a:solidFill>
              </a:rPr>
              <a:t>For each</a:t>
            </a:r>
            <a:r>
              <a:rPr lang="en-US" sz="3200"/>
              <a:t> row index i from </a:t>
            </a:r>
            <a:r>
              <a:rPr lang="en-US" sz="3200">
                <a:solidFill>
                  <a:srgbClr val="FF0000"/>
                </a:solidFill>
              </a:rPr>
              <a:t>0</a:t>
            </a:r>
            <a:r>
              <a:rPr lang="en-US" sz="3200"/>
              <a:t> to rowsA </a:t>
            </a:r>
            <a:r>
              <a:rPr lang="en-US" sz="3200">
                <a:solidFill>
                  <a:srgbClr val="0070C0"/>
                </a:solidFill>
                <a:sym typeface="+mn-ea"/>
              </a:rPr>
              <a:t>-</a:t>
            </a:r>
            <a:r>
              <a:rPr lang="en-US" sz="3200">
                <a:sym typeface="+mn-ea"/>
              </a:rPr>
              <a:t> </a:t>
            </a:r>
            <a:r>
              <a:rPr lang="en-US" sz="3200">
                <a:solidFill>
                  <a:srgbClr val="FF0000"/>
                </a:solidFill>
                <a:sym typeface="+mn-ea"/>
              </a:rPr>
              <a:t>1</a:t>
            </a:r>
            <a:endParaRPr lang="en-US" sz="3200"/>
          </a:p>
          <a:p>
            <a:r>
              <a:rPr lang="en-US" sz="3200"/>
              <a:t>        Add element A</a:t>
            </a:r>
            <a:r>
              <a:rPr lang="en-US" sz="3200">
                <a:solidFill>
                  <a:srgbClr val="0070C0"/>
                </a:solidFill>
              </a:rPr>
              <a:t>[</a:t>
            </a:r>
            <a:r>
              <a:rPr lang="en-US" sz="3200"/>
              <a:t>i</a:t>
            </a:r>
            <a:r>
              <a:rPr lang="en-US" sz="3200">
                <a:solidFill>
                  <a:srgbClr val="0070C0"/>
                </a:solidFill>
              </a:rPr>
              <a:t>][</a:t>
            </a:r>
            <a:r>
              <a:rPr lang="en-US" sz="3200"/>
              <a:t>j</a:t>
            </a:r>
            <a:r>
              <a:rPr lang="en-US" sz="3200">
                <a:solidFill>
                  <a:srgbClr val="0070C0"/>
                </a:solidFill>
              </a:rPr>
              <a:t>]</a:t>
            </a:r>
            <a:r>
              <a:rPr lang="en-US" sz="3200"/>
              <a:t> to result</a:t>
            </a:r>
            <a:endParaRPr lang="en-US" sz="3200"/>
          </a:p>
          <a:p>
            <a:endParaRPr lang="en-US" sz="3200"/>
          </a:p>
          <a:p>
            <a:r>
              <a:rPr lang="en-US" sz="3200">
                <a:solidFill>
                  <a:srgbClr val="FF6600"/>
                </a:solidFill>
              </a:rPr>
              <a:t>For each</a:t>
            </a:r>
            <a:r>
              <a:rPr lang="en-US" sz="3200"/>
              <a:t> row index i from </a:t>
            </a:r>
            <a:r>
              <a:rPr lang="en-US" sz="3200">
                <a:solidFill>
                  <a:srgbClr val="FF0000"/>
                </a:solidFill>
                <a:sym typeface="+mn-ea"/>
              </a:rPr>
              <a:t>0</a:t>
            </a:r>
            <a:r>
              <a:rPr lang="en-US" sz="3200"/>
              <a:t> to rowsA </a:t>
            </a:r>
            <a:r>
              <a:rPr lang="en-US" sz="3200">
                <a:solidFill>
                  <a:srgbClr val="0070C0"/>
                </a:solidFill>
                <a:sym typeface="+mn-ea"/>
              </a:rPr>
              <a:t>-</a:t>
            </a:r>
            <a:r>
              <a:rPr lang="en-US" sz="3200">
                <a:sym typeface="+mn-ea"/>
              </a:rPr>
              <a:t> </a:t>
            </a:r>
            <a:r>
              <a:rPr lang="en-US" sz="3200">
                <a:solidFill>
                  <a:srgbClr val="FF0000"/>
                </a:solidFill>
                <a:sym typeface="+mn-ea"/>
              </a:rPr>
              <a:t>1</a:t>
            </a:r>
            <a:endParaRPr lang="en-US" sz="3200"/>
          </a:p>
          <a:p>
            <a:r>
              <a:rPr lang="en-US" sz="3200"/>
              <a:t>    </a:t>
            </a:r>
            <a:r>
              <a:rPr lang="en-US" sz="3200">
                <a:solidFill>
                  <a:srgbClr val="FF6600"/>
                </a:solidFill>
              </a:rPr>
              <a:t>For each</a:t>
            </a:r>
            <a:r>
              <a:rPr lang="en-US" sz="3200"/>
              <a:t> column index j from </a:t>
            </a:r>
            <a:r>
              <a:rPr lang="en-US" sz="3200">
                <a:solidFill>
                  <a:srgbClr val="FF0000"/>
                </a:solidFill>
                <a:sym typeface="+mn-ea"/>
              </a:rPr>
              <a:t>0</a:t>
            </a:r>
            <a:r>
              <a:rPr lang="pt-PT" altLang="en-US" sz="3200">
                <a:solidFill>
                  <a:srgbClr val="FF0000"/>
                </a:solidFill>
                <a:sym typeface="+mn-ea"/>
              </a:rPr>
              <a:t> </a:t>
            </a:r>
            <a:r>
              <a:rPr lang="en-US" sz="3200"/>
              <a:t>to colsA </a:t>
            </a:r>
            <a:r>
              <a:rPr lang="en-US" sz="3200">
                <a:solidFill>
                  <a:srgbClr val="0070C0"/>
                </a:solidFill>
                <a:sym typeface="+mn-ea"/>
              </a:rPr>
              <a:t>-</a:t>
            </a:r>
            <a:r>
              <a:rPr lang="en-US" sz="3200">
                <a:sym typeface="+mn-ea"/>
              </a:rPr>
              <a:t> </a:t>
            </a:r>
            <a:r>
              <a:rPr lang="en-US" sz="3200">
                <a:solidFill>
                  <a:srgbClr val="FF0000"/>
                </a:solidFill>
                <a:sym typeface="+mn-ea"/>
              </a:rPr>
              <a:t>1</a:t>
            </a:r>
            <a:endParaRPr lang="en-US" sz="3200"/>
          </a:p>
          <a:p>
            <a:r>
              <a:rPr lang="en-US" sz="3200"/>
              <a:t>        Add element</a:t>
            </a:r>
            <a:r>
              <a:rPr lang="pt-PT" altLang="en-US" sz="3200"/>
              <a:t> </a:t>
            </a:r>
            <a:r>
              <a:rPr lang="en-US" sz="3200">
                <a:sym typeface="+mn-ea"/>
              </a:rPr>
              <a:t>A</a:t>
            </a:r>
            <a:r>
              <a:rPr lang="en-US" sz="3200">
                <a:solidFill>
                  <a:srgbClr val="0070C0"/>
                </a:solidFill>
                <a:sym typeface="+mn-ea"/>
              </a:rPr>
              <a:t>[</a:t>
            </a:r>
            <a:r>
              <a:rPr lang="en-US" sz="3200">
                <a:sym typeface="+mn-ea"/>
              </a:rPr>
              <a:t>i</a:t>
            </a:r>
            <a:r>
              <a:rPr lang="en-US" sz="3200">
                <a:solidFill>
                  <a:srgbClr val="0070C0"/>
                </a:solidFill>
                <a:sym typeface="+mn-ea"/>
              </a:rPr>
              <a:t>][</a:t>
            </a:r>
            <a:r>
              <a:rPr lang="en-US" sz="3200">
                <a:sym typeface="+mn-ea"/>
              </a:rPr>
              <a:t>j</a:t>
            </a:r>
            <a:r>
              <a:rPr lang="en-US" sz="3200">
                <a:solidFill>
                  <a:srgbClr val="0070C0"/>
                </a:solidFill>
                <a:sym typeface="+mn-ea"/>
              </a:rPr>
              <a:t>]</a:t>
            </a:r>
            <a:r>
              <a:rPr lang="en-US" sz="3200"/>
              <a:t> to result</a:t>
            </a:r>
            <a:endParaRPr lang="en-US" sz="3200"/>
          </a:p>
        </p:txBody>
      </p:sp>
      <p:sp>
        <p:nvSpPr>
          <p:cNvPr id="4" name="Text Box 3"/>
          <p:cNvSpPr txBox="1"/>
          <p:nvPr/>
        </p:nvSpPr>
        <p:spPr>
          <a:xfrm>
            <a:off x="9133840" y="2714625"/>
            <a:ext cx="2869565" cy="304609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p>
            <a:r>
              <a:rPr lang="pt-PT" altLang="en-US" sz="3200"/>
              <a:t>A: 20000^2</a:t>
            </a:r>
            <a:endParaRPr lang="pt-PT" altLang="en-US" sz="3200"/>
          </a:p>
          <a:p>
            <a:endParaRPr lang="pt-PT" altLang="en-US" sz="3200"/>
          </a:p>
          <a:p>
            <a:r>
              <a:rPr lang="pt-PT" altLang="en-US" sz="3200"/>
              <a:t>t1 = x.xx</a:t>
            </a:r>
            <a:endParaRPr lang="pt-PT" altLang="en-US" sz="3200"/>
          </a:p>
          <a:p>
            <a:endParaRPr lang="pt-PT" altLang="en-US" sz="3200"/>
          </a:p>
          <a:p>
            <a:endParaRPr lang="pt-PT" altLang="en-US" sz="3200"/>
          </a:p>
          <a:p>
            <a:r>
              <a:rPr lang="pt-PT" altLang="en-US" sz="3200">
                <a:sym typeface="+mn-ea"/>
              </a:rPr>
              <a:t>t2 = x.xx</a:t>
            </a:r>
            <a:endParaRPr lang="pt-PT" altLang="en-US" sz="3200"/>
          </a:p>
        </p:txBody>
      </p:sp>
      <p:sp>
        <p:nvSpPr>
          <p:cNvPr id="5" name="Text Box 4"/>
          <p:cNvSpPr txBox="1"/>
          <p:nvPr/>
        </p:nvSpPr>
        <p:spPr>
          <a:xfrm>
            <a:off x="11383645" y="304165"/>
            <a:ext cx="492125" cy="368300"/>
          </a:xfrm>
          <a:prstGeom prst="rect">
            <a:avLst/>
          </a:prstGeom>
          <a:noFill/>
        </p:spPr>
        <p:txBody>
          <a:bodyPr wrap="square" rtlCol="0">
            <a:spAutoFit/>
          </a:bodyPr>
          <a:p>
            <a:r>
              <a:rPr lang="pt-PT" altLang="en-US"/>
              <a:t>11</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Problem: Memory Locallity</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52755" y="1010920"/>
            <a:ext cx="11287125" cy="1568450"/>
          </a:xfrm>
          <a:prstGeom prst="rect">
            <a:avLst/>
          </a:prstGeom>
          <a:noFill/>
        </p:spPr>
        <p:txBody>
          <a:bodyPr wrap="square" rtlCol="0">
            <a:spAutoFit/>
          </a:bodyPr>
          <a:p>
            <a:r>
              <a:rPr sz="3200"/>
              <a:t>It is possible to clearly see the cost by doing a simple test. </a:t>
            </a:r>
            <a:r>
              <a:rPr sz="3200" i="1"/>
              <a:t>Exempli gratia</a:t>
            </a:r>
            <a:r>
              <a:rPr lang="pt-PT" sz="3200"/>
              <a:t>, </a:t>
            </a:r>
            <a:r>
              <a:rPr sz="3200"/>
              <a:t>writing a small loop to sum all elements of a matrix:</a:t>
            </a:r>
            <a:endParaRPr sz="3200"/>
          </a:p>
        </p:txBody>
      </p:sp>
      <p:sp>
        <p:nvSpPr>
          <p:cNvPr id="9" name="Text Box 8"/>
          <p:cNvSpPr txBox="1"/>
          <p:nvPr/>
        </p:nvSpPr>
        <p:spPr>
          <a:xfrm>
            <a:off x="449580" y="2579370"/>
            <a:ext cx="11290300" cy="4030980"/>
          </a:xfrm>
          <a:prstGeom prst="rect">
            <a:avLst/>
          </a:prstGeom>
        </p:spPr>
        <p:style>
          <a:lnRef idx="2">
            <a:schemeClr val="accent2"/>
          </a:lnRef>
          <a:fillRef idx="1">
            <a:schemeClr val="lt1"/>
          </a:fillRef>
          <a:effectRef idx="0">
            <a:schemeClr val="accent2"/>
          </a:effectRef>
          <a:fontRef idx="minor">
            <a:schemeClr val="dk1"/>
          </a:fontRef>
        </p:style>
        <p:txBody>
          <a:bodyPr wrap="square" rtlCol="0" anchor="t">
            <a:spAutoFit/>
          </a:bodyPr>
          <a:p>
            <a:r>
              <a:rPr lang="pt-PT" altLang="en-US" sz="3200">
                <a:solidFill>
                  <a:schemeClr val="bg1">
                    <a:lumMod val="50000"/>
                  </a:schemeClr>
                </a:solidFill>
                <a:sym typeface="+mn-ea"/>
              </a:rPr>
              <a:t>// sum all elements of matrix</a:t>
            </a:r>
            <a:endParaRPr lang="en-US" sz="3200">
              <a:solidFill>
                <a:srgbClr val="FF6600"/>
              </a:solidFill>
            </a:endParaRPr>
          </a:p>
          <a:p>
            <a:r>
              <a:rPr lang="en-US" sz="3200">
                <a:solidFill>
                  <a:srgbClr val="FF6600"/>
                </a:solidFill>
              </a:rPr>
              <a:t>For each</a:t>
            </a:r>
            <a:r>
              <a:rPr lang="en-US" sz="3200"/>
              <a:t> column index j from </a:t>
            </a:r>
            <a:r>
              <a:rPr lang="en-US" sz="3200">
                <a:solidFill>
                  <a:srgbClr val="FF0000"/>
                </a:solidFill>
              </a:rPr>
              <a:t>0</a:t>
            </a:r>
            <a:r>
              <a:rPr lang="en-US" sz="3200"/>
              <a:t> to colsA </a:t>
            </a:r>
            <a:r>
              <a:rPr lang="en-US" sz="3200">
                <a:solidFill>
                  <a:srgbClr val="0070C0"/>
                </a:solidFill>
              </a:rPr>
              <a:t>-</a:t>
            </a:r>
            <a:r>
              <a:rPr lang="en-US" sz="3200"/>
              <a:t> </a:t>
            </a:r>
            <a:r>
              <a:rPr lang="en-US" sz="3200">
                <a:solidFill>
                  <a:srgbClr val="FF0000"/>
                </a:solidFill>
              </a:rPr>
              <a:t>1</a:t>
            </a:r>
            <a:endParaRPr lang="en-US" sz="3200"/>
          </a:p>
          <a:p>
            <a:r>
              <a:rPr lang="en-US" sz="3200"/>
              <a:t>    </a:t>
            </a:r>
            <a:r>
              <a:rPr lang="en-US" sz="3200">
                <a:solidFill>
                  <a:srgbClr val="FF6600"/>
                </a:solidFill>
              </a:rPr>
              <a:t>For each</a:t>
            </a:r>
            <a:r>
              <a:rPr lang="en-US" sz="3200"/>
              <a:t> row index i from </a:t>
            </a:r>
            <a:r>
              <a:rPr lang="en-US" sz="3200">
                <a:solidFill>
                  <a:srgbClr val="FF0000"/>
                </a:solidFill>
              </a:rPr>
              <a:t>0</a:t>
            </a:r>
            <a:r>
              <a:rPr lang="en-US" sz="3200"/>
              <a:t> to rowsA </a:t>
            </a:r>
            <a:r>
              <a:rPr lang="en-US" sz="3200">
                <a:solidFill>
                  <a:srgbClr val="0070C0"/>
                </a:solidFill>
                <a:sym typeface="+mn-ea"/>
              </a:rPr>
              <a:t>-</a:t>
            </a:r>
            <a:r>
              <a:rPr lang="en-US" sz="3200">
                <a:sym typeface="+mn-ea"/>
              </a:rPr>
              <a:t> </a:t>
            </a:r>
            <a:r>
              <a:rPr lang="en-US" sz="3200">
                <a:solidFill>
                  <a:srgbClr val="FF0000"/>
                </a:solidFill>
                <a:sym typeface="+mn-ea"/>
              </a:rPr>
              <a:t>1</a:t>
            </a:r>
            <a:endParaRPr lang="en-US" sz="3200"/>
          </a:p>
          <a:p>
            <a:r>
              <a:rPr lang="en-US" sz="3200"/>
              <a:t>        Add element A</a:t>
            </a:r>
            <a:r>
              <a:rPr lang="en-US" sz="3200">
                <a:solidFill>
                  <a:srgbClr val="0070C0"/>
                </a:solidFill>
              </a:rPr>
              <a:t>[</a:t>
            </a:r>
            <a:r>
              <a:rPr lang="en-US" sz="3200"/>
              <a:t>i</a:t>
            </a:r>
            <a:r>
              <a:rPr lang="en-US" sz="3200">
                <a:solidFill>
                  <a:srgbClr val="0070C0"/>
                </a:solidFill>
              </a:rPr>
              <a:t>][</a:t>
            </a:r>
            <a:r>
              <a:rPr lang="en-US" sz="3200"/>
              <a:t>j</a:t>
            </a:r>
            <a:r>
              <a:rPr lang="en-US" sz="3200">
                <a:solidFill>
                  <a:srgbClr val="0070C0"/>
                </a:solidFill>
              </a:rPr>
              <a:t>]</a:t>
            </a:r>
            <a:r>
              <a:rPr lang="en-US" sz="3200"/>
              <a:t> to result</a:t>
            </a:r>
            <a:endParaRPr lang="en-US" sz="3200"/>
          </a:p>
          <a:p>
            <a:endParaRPr lang="en-US" sz="3200"/>
          </a:p>
          <a:p>
            <a:r>
              <a:rPr lang="en-US" sz="3200">
                <a:solidFill>
                  <a:srgbClr val="FF6600"/>
                </a:solidFill>
              </a:rPr>
              <a:t>For each</a:t>
            </a:r>
            <a:r>
              <a:rPr lang="en-US" sz="3200"/>
              <a:t> row index i from </a:t>
            </a:r>
            <a:r>
              <a:rPr lang="en-US" sz="3200">
                <a:solidFill>
                  <a:srgbClr val="FF0000"/>
                </a:solidFill>
                <a:sym typeface="+mn-ea"/>
              </a:rPr>
              <a:t>0</a:t>
            </a:r>
            <a:r>
              <a:rPr lang="en-US" sz="3200"/>
              <a:t> to rowsA </a:t>
            </a:r>
            <a:r>
              <a:rPr lang="en-US" sz="3200">
                <a:solidFill>
                  <a:srgbClr val="0070C0"/>
                </a:solidFill>
                <a:sym typeface="+mn-ea"/>
              </a:rPr>
              <a:t>-</a:t>
            </a:r>
            <a:r>
              <a:rPr lang="en-US" sz="3200">
                <a:sym typeface="+mn-ea"/>
              </a:rPr>
              <a:t> </a:t>
            </a:r>
            <a:r>
              <a:rPr lang="en-US" sz="3200">
                <a:solidFill>
                  <a:srgbClr val="FF0000"/>
                </a:solidFill>
                <a:sym typeface="+mn-ea"/>
              </a:rPr>
              <a:t>1</a:t>
            </a:r>
            <a:endParaRPr lang="en-US" sz="3200"/>
          </a:p>
          <a:p>
            <a:r>
              <a:rPr lang="en-US" sz="3200"/>
              <a:t>    </a:t>
            </a:r>
            <a:r>
              <a:rPr lang="en-US" sz="3200">
                <a:solidFill>
                  <a:srgbClr val="FF6600"/>
                </a:solidFill>
              </a:rPr>
              <a:t>For each</a:t>
            </a:r>
            <a:r>
              <a:rPr lang="en-US" sz="3200"/>
              <a:t> column index j from </a:t>
            </a:r>
            <a:r>
              <a:rPr lang="en-US" sz="3200">
                <a:solidFill>
                  <a:srgbClr val="FF0000"/>
                </a:solidFill>
                <a:sym typeface="+mn-ea"/>
              </a:rPr>
              <a:t>0</a:t>
            </a:r>
            <a:r>
              <a:rPr lang="pt-PT" altLang="en-US" sz="3200">
                <a:solidFill>
                  <a:srgbClr val="FF0000"/>
                </a:solidFill>
                <a:sym typeface="+mn-ea"/>
              </a:rPr>
              <a:t> </a:t>
            </a:r>
            <a:r>
              <a:rPr lang="en-US" sz="3200"/>
              <a:t>to colsA </a:t>
            </a:r>
            <a:r>
              <a:rPr lang="en-US" sz="3200">
                <a:solidFill>
                  <a:srgbClr val="0070C0"/>
                </a:solidFill>
                <a:sym typeface="+mn-ea"/>
              </a:rPr>
              <a:t>-</a:t>
            </a:r>
            <a:r>
              <a:rPr lang="en-US" sz="3200">
                <a:sym typeface="+mn-ea"/>
              </a:rPr>
              <a:t> </a:t>
            </a:r>
            <a:r>
              <a:rPr lang="en-US" sz="3200">
                <a:solidFill>
                  <a:srgbClr val="FF0000"/>
                </a:solidFill>
                <a:sym typeface="+mn-ea"/>
              </a:rPr>
              <a:t>1</a:t>
            </a:r>
            <a:endParaRPr lang="en-US" sz="3200"/>
          </a:p>
          <a:p>
            <a:r>
              <a:rPr lang="en-US" sz="3200"/>
              <a:t>        Add element</a:t>
            </a:r>
            <a:r>
              <a:rPr lang="pt-PT" altLang="en-US" sz="3200"/>
              <a:t> </a:t>
            </a:r>
            <a:r>
              <a:rPr lang="en-US" sz="3200">
                <a:sym typeface="+mn-ea"/>
              </a:rPr>
              <a:t>A</a:t>
            </a:r>
            <a:r>
              <a:rPr lang="en-US" sz="3200">
                <a:solidFill>
                  <a:srgbClr val="0070C0"/>
                </a:solidFill>
                <a:sym typeface="+mn-ea"/>
              </a:rPr>
              <a:t>[</a:t>
            </a:r>
            <a:r>
              <a:rPr lang="en-US" sz="3200">
                <a:sym typeface="+mn-ea"/>
              </a:rPr>
              <a:t>i</a:t>
            </a:r>
            <a:r>
              <a:rPr lang="en-US" sz="3200">
                <a:solidFill>
                  <a:srgbClr val="0070C0"/>
                </a:solidFill>
                <a:sym typeface="+mn-ea"/>
              </a:rPr>
              <a:t>][</a:t>
            </a:r>
            <a:r>
              <a:rPr lang="en-US" sz="3200">
                <a:sym typeface="+mn-ea"/>
              </a:rPr>
              <a:t>j</a:t>
            </a:r>
            <a:r>
              <a:rPr lang="en-US" sz="3200">
                <a:solidFill>
                  <a:srgbClr val="0070C0"/>
                </a:solidFill>
                <a:sym typeface="+mn-ea"/>
              </a:rPr>
              <a:t>]</a:t>
            </a:r>
            <a:r>
              <a:rPr lang="en-US" sz="3200"/>
              <a:t> to result</a:t>
            </a:r>
            <a:endParaRPr lang="en-US" sz="3200"/>
          </a:p>
        </p:txBody>
      </p:sp>
      <p:sp>
        <p:nvSpPr>
          <p:cNvPr id="4" name="Text Box 3"/>
          <p:cNvSpPr txBox="1"/>
          <p:nvPr/>
        </p:nvSpPr>
        <p:spPr>
          <a:xfrm>
            <a:off x="9133840" y="2714625"/>
            <a:ext cx="2869565" cy="304609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p>
            <a:r>
              <a:rPr lang="pt-PT" altLang="en-US" sz="3200"/>
              <a:t>A: 20000^2</a:t>
            </a:r>
            <a:endParaRPr lang="pt-PT" altLang="en-US" sz="3200"/>
          </a:p>
          <a:p>
            <a:endParaRPr lang="pt-PT" altLang="en-US" sz="3200"/>
          </a:p>
          <a:p>
            <a:r>
              <a:rPr lang="pt-PT" altLang="en-US" sz="3200"/>
              <a:t>t1 = 4.46s</a:t>
            </a:r>
            <a:endParaRPr lang="pt-PT" altLang="en-US" sz="3200"/>
          </a:p>
          <a:p>
            <a:endParaRPr lang="pt-PT" altLang="en-US" sz="3200"/>
          </a:p>
          <a:p>
            <a:endParaRPr lang="pt-PT" altLang="en-US" sz="3200"/>
          </a:p>
          <a:p>
            <a:r>
              <a:rPr lang="pt-PT" altLang="en-US" sz="3200">
                <a:sym typeface="+mn-ea"/>
              </a:rPr>
              <a:t>t2 = 1.15s</a:t>
            </a:r>
            <a:endParaRPr lang="pt-PT" altLang="en-US" sz="3200">
              <a:sym typeface="+mn-ea"/>
            </a:endParaRPr>
          </a:p>
        </p:txBody>
      </p:sp>
      <p:sp>
        <p:nvSpPr>
          <p:cNvPr id="5" name="Text Box 4"/>
          <p:cNvSpPr txBox="1"/>
          <p:nvPr/>
        </p:nvSpPr>
        <p:spPr>
          <a:xfrm>
            <a:off x="11383645" y="304165"/>
            <a:ext cx="492125" cy="368300"/>
          </a:xfrm>
          <a:prstGeom prst="rect">
            <a:avLst/>
          </a:prstGeom>
          <a:noFill/>
        </p:spPr>
        <p:txBody>
          <a:bodyPr wrap="square" rtlCol="0">
            <a:spAutoFit/>
          </a:bodyPr>
          <a:p>
            <a:r>
              <a:rPr lang="pt-PT" altLang="en-US"/>
              <a:t>12</a:t>
            </a:r>
            <a:endParaRPr lang="pt-PT"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Problem: Memory Locallity</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46405" y="2611120"/>
            <a:ext cx="11287125" cy="2061210"/>
          </a:xfrm>
          <a:prstGeom prst="rect">
            <a:avLst/>
          </a:prstGeom>
          <a:noFill/>
        </p:spPr>
        <p:txBody>
          <a:bodyPr wrap="square" rtlCol="0">
            <a:spAutoFit/>
          </a:bodyPr>
          <a:p>
            <a:r>
              <a:rPr sz="3200"/>
              <a:t>This leads to cache misses because each element is further apart in memory. In the end, this just shows what is already known, it is better for the CPU to iterate over arrays that are contiguous in memory</a:t>
            </a:r>
            <a:endParaRPr sz="3200"/>
          </a:p>
        </p:txBody>
      </p:sp>
      <p:sp>
        <p:nvSpPr>
          <p:cNvPr id="9" name="Text Box 8"/>
          <p:cNvSpPr txBox="1"/>
          <p:nvPr/>
        </p:nvSpPr>
        <p:spPr>
          <a:xfrm>
            <a:off x="446405" y="1360170"/>
            <a:ext cx="11290300" cy="706755"/>
          </a:xfrm>
          <a:prstGeom prst="rect">
            <a:avLst/>
          </a:prstGeom>
        </p:spPr>
        <p:style>
          <a:lnRef idx="2">
            <a:schemeClr val="accent2"/>
          </a:lnRef>
          <a:fillRef idx="1">
            <a:schemeClr val="lt1"/>
          </a:fillRef>
          <a:effectRef idx="0">
            <a:schemeClr val="accent2"/>
          </a:effectRef>
          <a:fontRef idx="minor">
            <a:schemeClr val="dk1"/>
          </a:fontRef>
        </p:style>
        <p:txBody>
          <a:bodyPr wrap="square" rtlCol="0" anchor="t">
            <a:spAutoFit/>
          </a:bodyPr>
          <a:p>
            <a:r>
              <a:rPr lang="pt-PT" altLang="en-US" sz="4000">
                <a:solidFill>
                  <a:schemeClr val="tx1"/>
                </a:solidFill>
                <a:sym typeface="+mn-ea"/>
              </a:rPr>
              <a:t>A[0][0], A[0][1], A[0][2], ..., A[1][0], A[1][1], ...</a:t>
            </a:r>
            <a:endParaRPr lang="pt-PT" altLang="en-US" sz="4000">
              <a:solidFill>
                <a:schemeClr val="tx1"/>
              </a:solidFill>
              <a:sym typeface="+mn-ea"/>
            </a:endParaRPr>
          </a:p>
        </p:txBody>
      </p:sp>
      <p:sp>
        <p:nvSpPr>
          <p:cNvPr id="4" name="Text Box 3"/>
          <p:cNvSpPr txBox="1"/>
          <p:nvPr/>
        </p:nvSpPr>
        <p:spPr>
          <a:xfrm>
            <a:off x="11383645" y="304165"/>
            <a:ext cx="492125" cy="368300"/>
          </a:xfrm>
          <a:prstGeom prst="rect">
            <a:avLst/>
          </a:prstGeom>
          <a:noFill/>
        </p:spPr>
        <p:txBody>
          <a:bodyPr wrap="square" rtlCol="0">
            <a:spAutoFit/>
          </a:bodyPr>
          <a:p>
            <a:r>
              <a:rPr lang="pt-PT" altLang="en-US"/>
              <a:t>13</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Explaining the ECS method: Components</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52755" y="1167765"/>
            <a:ext cx="11287125" cy="4030980"/>
          </a:xfrm>
          <a:prstGeom prst="rect">
            <a:avLst/>
          </a:prstGeom>
          <a:noFill/>
        </p:spPr>
        <p:txBody>
          <a:bodyPr wrap="square" rtlCol="0">
            <a:spAutoFit/>
          </a:bodyPr>
          <a:p>
            <a:r>
              <a:rPr lang="pt-PT" sz="3200"/>
              <a:t>G</a:t>
            </a:r>
            <a:r>
              <a:rPr sz="3200"/>
              <a:t>ames have objects, like</a:t>
            </a:r>
            <a:r>
              <a:rPr lang="pt-PT" sz="3200"/>
              <a:t>:</a:t>
            </a:r>
            <a:r>
              <a:rPr sz="3200"/>
              <a:t> enemies, non-playable-characters, props, light sources, inventories, terrain, fluids, etc. </a:t>
            </a:r>
            <a:endParaRPr sz="3200"/>
          </a:p>
          <a:p>
            <a:endParaRPr sz="3200"/>
          </a:p>
          <a:p>
            <a:r>
              <a:rPr lang="pt-PT" sz="3200"/>
              <a:t>F</a:t>
            </a:r>
            <a:r>
              <a:rPr sz="3200"/>
              <a:t>irst step is to turn a complex object into many small structs, such as: Mesh, Audio, Sprite, Transforms, Velocity, Angular Velocity, Collision Box, Particles, Camera, etc. </a:t>
            </a:r>
            <a:endParaRPr sz="3200"/>
          </a:p>
          <a:p>
            <a:endParaRPr sz="3200"/>
          </a:p>
          <a:p>
            <a:r>
              <a:rPr sz="3200"/>
              <a:t>Those structures are called </a:t>
            </a:r>
            <a:r>
              <a:rPr sz="3200" b="1"/>
              <a:t>components</a:t>
            </a:r>
            <a:endParaRPr sz="3200" b="1"/>
          </a:p>
        </p:txBody>
      </p:sp>
      <p:sp>
        <p:nvSpPr>
          <p:cNvPr id="4" name="Text Box 3"/>
          <p:cNvSpPr txBox="1"/>
          <p:nvPr/>
        </p:nvSpPr>
        <p:spPr>
          <a:xfrm>
            <a:off x="11383645" y="304165"/>
            <a:ext cx="492125" cy="368300"/>
          </a:xfrm>
          <a:prstGeom prst="rect">
            <a:avLst/>
          </a:prstGeom>
          <a:noFill/>
        </p:spPr>
        <p:txBody>
          <a:bodyPr wrap="square" rtlCol="0">
            <a:spAutoFit/>
          </a:bodyPr>
          <a:p>
            <a:r>
              <a:rPr lang="pt-PT" altLang="en-US"/>
              <a:t>14</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Explaining the ECS method: Entity</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52755" y="1167765"/>
            <a:ext cx="11287125" cy="1076325"/>
          </a:xfrm>
          <a:prstGeom prst="rect">
            <a:avLst/>
          </a:prstGeom>
          <a:noFill/>
        </p:spPr>
        <p:txBody>
          <a:bodyPr wrap="square" rtlCol="0">
            <a:spAutoFit/>
          </a:bodyPr>
          <a:p>
            <a:r>
              <a:rPr sz="3200"/>
              <a:t>There are different views for what constitutes an entity or what it's supposed to represent.</a:t>
            </a:r>
            <a:endParaRPr sz="3200"/>
          </a:p>
        </p:txBody>
      </p:sp>
      <p:sp>
        <p:nvSpPr>
          <p:cNvPr id="4" name="Text Box 3"/>
          <p:cNvSpPr txBox="1"/>
          <p:nvPr/>
        </p:nvSpPr>
        <p:spPr>
          <a:xfrm>
            <a:off x="449580" y="2644775"/>
            <a:ext cx="11287125" cy="1568450"/>
          </a:xfrm>
          <a:prstGeom prst="rect">
            <a:avLst/>
          </a:prstGeom>
          <a:noFill/>
        </p:spPr>
        <p:txBody>
          <a:bodyPr wrap="square" rtlCol="0" anchor="t">
            <a:spAutoFit/>
          </a:bodyPr>
          <a:p>
            <a:r>
              <a:rPr lang="pt-PT" altLang="en-US" sz="3200"/>
              <a:t>D</a:t>
            </a:r>
            <a:r>
              <a:rPr lang="en-US" sz="3200"/>
              <a:t>efinition used by Unity Engine: </a:t>
            </a:r>
            <a:r>
              <a:rPr lang="pt-PT" sz="3200"/>
              <a:t>E</a:t>
            </a:r>
            <a:r>
              <a:rPr lang="en-US" sz="3200"/>
              <a:t>ntities are just </a:t>
            </a:r>
            <a:r>
              <a:rPr lang="en-US" sz="3200" b="1"/>
              <a:t>indices </a:t>
            </a:r>
            <a:r>
              <a:rPr lang="en-US" sz="3200"/>
              <a:t>which represent objects </a:t>
            </a:r>
            <a:r>
              <a:rPr lang="en-US" sz="3200" b="1"/>
              <a:t>ID</a:t>
            </a:r>
            <a:r>
              <a:rPr lang="en-US" sz="3200"/>
              <a:t>s. On C++ terms, it means that they are </a:t>
            </a:r>
            <a:r>
              <a:rPr lang="en-US" sz="3200" b="1"/>
              <a:t>integers</a:t>
            </a:r>
            <a:r>
              <a:rPr lang="en-US" sz="3200"/>
              <a:t>.</a:t>
            </a:r>
            <a:endParaRPr lang="en-US" sz="3200"/>
          </a:p>
        </p:txBody>
      </p:sp>
      <p:sp>
        <p:nvSpPr>
          <p:cNvPr id="5" name="Text Box 4"/>
          <p:cNvSpPr txBox="1"/>
          <p:nvPr/>
        </p:nvSpPr>
        <p:spPr>
          <a:xfrm>
            <a:off x="11383645" y="304165"/>
            <a:ext cx="492125" cy="368300"/>
          </a:xfrm>
          <a:prstGeom prst="rect">
            <a:avLst/>
          </a:prstGeom>
          <a:noFill/>
        </p:spPr>
        <p:txBody>
          <a:bodyPr wrap="square" rtlCol="0">
            <a:spAutoFit/>
          </a:bodyPr>
          <a:p>
            <a:r>
              <a:rPr lang="pt-PT" altLang="en-US"/>
              <a:t>15</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5476875"/>
            <a:ext cx="12192000" cy="1409700"/>
          </a:xfrm>
          <a:prstGeom prst="rect">
            <a:avLst/>
          </a:prstGeom>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8" name="Rounded Rectangle 7"/>
          <p:cNvSpPr/>
          <p:nvPr/>
        </p:nvSpPr>
        <p:spPr>
          <a:xfrm>
            <a:off x="4083685" y="292735"/>
            <a:ext cx="1950720" cy="5401945"/>
          </a:xfrm>
          <a:prstGeom prst="round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9" name="Rounded Rectangle 8"/>
          <p:cNvSpPr/>
          <p:nvPr/>
        </p:nvSpPr>
        <p:spPr>
          <a:xfrm>
            <a:off x="6515735" y="292735"/>
            <a:ext cx="1950720" cy="5401945"/>
          </a:xfrm>
          <a:prstGeom prst="round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10" name="Rounded Rectangle 9"/>
          <p:cNvSpPr/>
          <p:nvPr/>
        </p:nvSpPr>
        <p:spPr>
          <a:xfrm>
            <a:off x="8947785" y="292735"/>
            <a:ext cx="1950720" cy="5401945"/>
          </a:xfrm>
          <a:prstGeom prst="roundRect">
            <a:avLst/>
          </a:prstGeom>
        </p:spPr>
        <p:style>
          <a:lnRef idx="2">
            <a:schemeClr val="dk1"/>
          </a:lnRef>
          <a:fillRef idx="1">
            <a:schemeClr val="lt1"/>
          </a:fillRef>
          <a:effectRef idx="0">
            <a:schemeClr val="dk1"/>
          </a:effectRef>
          <a:fontRef idx="minor">
            <a:schemeClr val="dk1"/>
          </a:fontRef>
        </p:style>
        <p:txBody>
          <a:bodyPr rtlCol="0" anchor="ctr"/>
          <a:p>
            <a:pPr algn="ctr"/>
            <a:r>
              <a:rPr lang="pt-PT" altLang="en-US">
                <a:sym typeface="+mn-ea"/>
              </a:rPr>
              <a:t>mp)</a:t>
            </a:r>
            <a:endParaRPr lang="pt-PT" altLang="en-US"/>
          </a:p>
          <a:p>
            <a:pPr algn="ctr"/>
            <a:endParaRPr lang="pt-PT" altLang="en-US"/>
          </a:p>
        </p:txBody>
      </p:sp>
      <p:sp>
        <p:nvSpPr>
          <p:cNvPr id="5" name="Rounded Rectangle 4"/>
          <p:cNvSpPr/>
          <p:nvPr/>
        </p:nvSpPr>
        <p:spPr>
          <a:xfrm>
            <a:off x="397510" y="1186815"/>
            <a:ext cx="11385550" cy="1076325"/>
          </a:xfrm>
          <a:prstGeom prst="round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6" name="Rounded Rectangle 5"/>
          <p:cNvSpPr/>
          <p:nvPr/>
        </p:nvSpPr>
        <p:spPr>
          <a:xfrm>
            <a:off x="397510" y="2840990"/>
            <a:ext cx="11385550" cy="1076325"/>
          </a:xfrm>
          <a:prstGeom prst="round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7" name="Rounded Rectangle 6"/>
          <p:cNvSpPr/>
          <p:nvPr/>
        </p:nvSpPr>
        <p:spPr>
          <a:xfrm>
            <a:off x="397510" y="4495165"/>
            <a:ext cx="11385550" cy="1076325"/>
          </a:xfrm>
          <a:prstGeom prst="roundRect">
            <a:avLst/>
          </a:prstGeom>
        </p:spPr>
        <p:style>
          <a:lnRef idx="2">
            <a:schemeClr val="dk1"/>
          </a:lnRef>
          <a:fillRef idx="1">
            <a:schemeClr val="lt1"/>
          </a:fillRef>
          <a:effectRef idx="0">
            <a:schemeClr val="dk1"/>
          </a:effectRef>
          <a:fontRef idx="minor">
            <a:schemeClr val="dk1"/>
          </a:fontRef>
        </p:style>
        <p:txBody>
          <a:bodyPr rtlCol="0" anchor="ctr"/>
          <a:p>
            <a:pPr algn="ctr"/>
            <a:endParaRPr lang="en-US"/>
          </a:p>
        </p:txBody>
      </p:sp>
      <p:sp>
        <p:nvSpPr>
          <p:cNvPr id="11" name="Text Box 10"/>
          <p:cNvSpPr txBox="1"/>
          <p:nvPr/>
        </p:nvSpPr>
        <p:spPr>
          <a:xfrm>
            <a:off x="530860" y="1371600"/>
            <a:ext cx="3234690" cy="460375"/>
          </a:xfrm>
          <a:prstGeom prst="rect">
            <a:avLst/>
          </a:prstGeom>
          <a:noFill/>
        </p:spPr>
        <p:txBody>
          <a:bodyPr wrap="square" rtlCol="0">
            <a:spAutoFit/>
          </a:bodyPr>
          <a:p>
            <a:r>
              <a:rPr lang="pt-PT" altLang="en-US" sz="2400"/>
              <a:t>Velocity Component </a:t>
            </a:r>
            <a:endParaRPr lang="pt-PT" altLang="en-US" sz="2400"/>
          </a:p>
        </p:txBody>
      </p:sp>
      <p:sp>
        <p:nvSpPr>
          <p:cNvPr id="12" name="Text Box 11"/>
          <p:cNvSpPr txBox="1"/>
          <p:nvPr/>
        </p:nvSpPr>
        <p:spPr>
          <a:xfrm>
            <a:off x="567055" y="3025775"/>
            <a:ext cx="3515360" cy="460375"/>
          </a:xfrm>
          <a:prstGeom prst="rect">
            <a:avLst/>
          </a:prstGeom>
          <a:noFill/>
        </p:spPr>
        <p:txBody>
          <a:bodyPr wrap="square" rtlCol="0">
            <a:spAutoFit/>
          </a:bodyPr>
          <a:p>
            <a:r>
              <a:rPr lang="pt-PT" altLang="en-US" sz="2400"/>
              <a:t>Transform Component</a:t>
            </a:r>
            <a:endParaRPr lang="pt-PT" altLang="en-US" sz="2400"/>
          </a:p>
        </p:txBody>
      </p:sp>
      <p:sp>
        <p:nvSpPr>
          <p:cNvPr id="13" name="Text Box 12"/>
          <p:cNvSpPr txBox="1"/>
          <p:nvPr/>
        </p:nvSpPr>
        <p:spPr>
          <a:xfrm>
            <a:off x="567055" y="4679950"/>
            <a:ext cx="3342005" cy="1014730"/>
          </a:xfrm>
          <a:prstGeom prst="rect">
            <a:avLst/>
          </a:prstGeom>
          <a:noFill/>
        </p:spPr>
        <p:txBody>
          <a:bodyPr wrap="square" rtlCol="0">
            <a:spAutoFit/>
          </a:bodyPr>
          <a:p>
            <a:r>
              <a:rPr lang="pt-PT" altLang="en-US" sz="2000"/>
              <a:t>Sprite Component </a:t>
            </a:r>
            <a:endParaRPr lang="pt-PT" altLang="en-US" sz="2000"/>
          </a:p>
          <a:p>
            <a:r>
              <a:rPr lang="pt-PT" altLang="en-US" sz="2000"/>
              <a:t>(size, color and tiling factor)</a:t>
            </a:r>
            <a:endParaRPr lang="pt-PT" altLang="en-US" sz="2000"/>
          </a:p>
          <a:p>
            <a:endParaRPr lang="pt-PT" altLang="en-US" sz="2000"/>
          </a:p>
        </p:txBody>
      </p:sp>
      <p:sp>
        <p:nvSpPr>
          <p:cNvPr id="14" name="Text Box 13"/>
          <p:cNvSpPr txBox="1"/>
          <p:nvPr/>
        </p:nvSpPr>
        <p:spPr>
          <a:xfrm>
            <a:off x="4141470" y="563245"/>
            <a:ext cx="1854200" cy="398780"/>
          </a:xfrm>
          <a:prstGeom prst="rect">
            <a:avLst/>
          </a:prstGeom>
          <a:noFill/>
        </p:spPr>
        <p:txBody>
          <a:bodyPr wrap="square" rtlCol="0">
            <a:spAutoFit/>
          </a:bodyPr>
          <a:p>
            <a:r>
              <a:rPr lang="pt-PT" altLang="en-US" sz="2000"/>
              <a:t>Entity 1 (NPC)</a:t>
            </a:r>
            <a:endParaRPr lang="pt-PT" altLang="en-US" sz="2000"/>
          </a:p>
        </p:txBody>
      </p:sp>
      <p:sp>
        <p:nvSpPr>
          <p:cNvPr id="15" name="Text Box 14"/>
          <p:cNvSpPr txBox="1"/>
          <p:nvPr/>
        </p:nvSpPr>
        <p:spPr>
          <a:xfrm>
            <a:off x="6581775" y="563245"/>
            <a:ext cx="2075815" cy="398780"/>
          </a:xfrm>
          <a:prstGeom prst="rect">
            <a:avLst/>
          </a:prstGeom>
          <a:noFill/>
        </p:spPr>
        <p:txBody>
          <a:bodyPr wrap="square" rtlCol="0">
            <a:spAutoFit/>
          </a:bodyPr>
          <a:p>
            <a:r>
              <a:rPr lang="pt-PT" altLang="en-US" sz="2000"/>
              <a:t>Entity 2 (Lamp)</a:t>
            </a:r>
            <a:endParaRPr lang="pt-PT" altLang="en-US" sz="2000"/>
          </a:p>
        </p:txBody>
      </p:sp>
      <p:sp>
        <p:nvSpPr>
          <p:cNvPr id="16" name="Text Box 15"/>
          <p:cNvSpPr txBox="1"/>
          <p:nvPr/>
        </p:nvSpPr>
        <p:spPr>
          <a:xfrm>
            <a:off x="9023985" y="563245"/>
            <a:ext cx="1970405" cy="398780"/>
          </a:xfrm>
          <a:prstGeom prst="rect">
            <a:avLst/>
          </a:prstGeom>
          <a:noFill/>
        </p:spPr>
        <p:txBody>
          <a:bodyPr wrap="square" rtlCol="0">
            <a:spAutoFit/>
          </a:bodyPr>
          <a:p>
            <a:r>
              <a:rPr lang="pt-PT" altLang="en-US" sz="2000"/>
              <a:t>Entity 3 (Rock)</a:t>
            </a:r>
            <a:endParaRPr lang="pt-PT" altLang="en-US" sz="2000"/>
          </a:p>
        </p:txBody>
      </p:sp>
      <p:sp>
        <p:nvSpPr>
          <p:cNvPr id="17" name="Text Box 16"/>
          <p:cNvSpPr txBox="1"/>
          <p:nvPr/>
        </p:nvSpPr>
        <p:spPr>
          <a:xfrm>
            <a:off x="4241800" y="1525905"/>
            <a:ext cx="1640205" cy="398780"/>
          </a:xfrm>
          <a:prstGeom prst="rect">
            <a:avLst/>
          </a:prstGeom>
          <a:noFill/>
        </p:spPr>
        <p:txBody>
          <a:bodyPr wrap="square" rtlCol="0">
            <a:spAutoFit/>
          </a:bodyPr>
          <a:p>
            <a:r>
              <a:rPr lang="pt-PT" altLang="en-US" sz="2000"/>
              <a:t>(0.2,0.3,0.0)</a:t>
            </a:r>
            <a:endParaRPr lang="pt-PT" altLang="en-US" sz="2000"/>
          </a:p>
        </p:txBody>
      </p:sp>
      <p:sp>
        <p:nvSpPr>
          <p:cNvPr id="18" name="Text Box 17"/>
          <p:cNvSpPr txBox="1"/>
          <p:nvPr/>
        </p:nvSpPr>
        <p:spPr>
          <a:xfrm>
            <a:off x="6747510" y="1525905"/>
            <a:ext cx="1640205" cy="398780"/>
          </a:xfrm>
          <a:prstGeom prst="rect">
            <a:avLst/>
          </a:prstGeom>
          <a:noFill/>
        </p:spPr>
        <p:txBody>
          <a:bodyPr wrap="square" rtlCol="0">
            <a:spAutoFit/>
          </a:bodyPr>
          <a:p>
            <a:r>
              <a:rPr lang="pt-PT" altLang="en-US" sz="2000"/>
              <a:t>(1.2,0.1,0.0)</a:t>
            </a:r>
            <a:endParaRPr lang="pt-PT" altLang="en-US" sz="2000"/>
          </a:p>
        </p:txBody>
      </p:sp>
      <p:sp>
        <p:nvSpPr>
          <p:cNvPr id="19" name="Text Box 18"/>
          <p:cNvSpPr txBox="1"/>
          <p:nvPr/>
        </p:nvSpPr>
        <p:spPr>
          <a:xfrm>
            <a:off x="9182735" y="3180080"/>
            <a:ext cx="1640205" cy="398780"/>
          </a:xfrm>
          <a:prstGeom prst="rect">
            <a:avLst/>
          </a:prstGeom>
          <a:noFill/>
        </p:spPr>
        <p:txBody>
          <a:bodyPr wrap="square" rtlCol="0">
            <a:spAutoFit/>
          </a:bodyPr>
          <a:p>
            <a:r>
              <a:rPr lang="pt-PT" altLang="en-US" sz="2000"/>
              <a:t>(9.6,5.8,1.2)</a:t>
            </a:r>
            <a:endParaRPr lang="pt-PT" altLang="en-US" sz="2000"/>
          </a:p>
        </p:txBody>
      </p:sp>
      <p:sp>
        <p:nvSpPr>
          <p:cNvPr id="20" name="Text Box 19"/>
          <p:cNvSpPr txBox="1"/>
          <p:nvPr/>
        </p:nvSpPr>
        <p:spPr>
          <a:xfrm>
            <a:off x="6708140" y="3180080"/>
            <a:ext cx="1640205" cy="398780"/>
          </a:xfrm>
          <a:prstGeom prst="rect">
            <a:avLst/>
          </a:prstGeom>
          <a:noFill/>
        </p:spPr>
        <p:txBody>
          <a:bodyPr wrap="square" rtlCol="0">
            <a:spAutoFit/>
          </a:bodyPr>
          <a:p>
            <a:r>
              <a:rPr lang="pt-PT" altLang="en-US" sz="2000"/>
              <a:t>(2.8,5.7,3.8)</a:t>
            </a:r>
            <a:endParaRPr lang="pt-PT" altLang="en-US" sz="2000"/>
          </a:p>
        </p:txBody>
      </p:sp>
      <p:sp>
        <p:nvSpPr>
          <p:cNvPr id="21" name="Text Box 20"/>
          <p:cNvSpPr txBox="1"/>
          <p:nvPr/>
        </p:nvSpPr>
        <p:spPr>
          <a:xfrm>
            <a:off x="4233545" y="3180080"/>
            <a:ext cx="1640205" cy="398780"/>
          </a:xfrm>
          <a:prstGeom prst="rect">
            <a:avLst/>
          </a:prstGeom>
          <a:noFill/>
        </p:spPr>
        <p:txBody>
          <a:bodyPr wrap="square" rtlCol="0">
            <a:spAutoFit/>
          </a:bodyPr>
          <a:p>
            <a:r>
              <a:rPr lang="pt-PT" altLang="en-US" sz="2000"/>
              <a:t>(0.0,0.0,0.0)</a:t>
            </a:r>
            <a:endParaRPr lang="pt-PT" altLang="en-US" sz="2000"/>
          </a:p>
        </p:txBody>
      </p:sp>
      <p:sp>
        <p:nvSpPr>
          <p:cNvPr id="22" name="Text Box 21"/>
          <p:cNvSpPr txBox="1"/>
          <p:nvPr/>
        </p:nvSpPr>
        <p:spPr>
          <a:xfrm>
            <a:off x="4083050" y="4679950"/>
            <a:ext cx="2012950" cy="706755"/>
          </a:xfrm>
          <a:prstGeom prst="rect">
            <a:avLst/>
          </a:prstGeom>
          <a:noFill/>
        </p:spPr>
        <p:txBody>
          <a:bodyPr wrap="square" rtlCol="0">
            <a:spAutoFit/>
          </a:bodyPr>
          <a:p>
            <a:r>
              <a:rPr lang="pt-PT" altLang="en-US" sz="2000">
                <a:sym typeface="+mn-ea"/>
              </a:rPr>
              <a:t>(0.1,0.1)</a:t>
            </a:r>
            <a:endParaRPr lang="pt-PT" altLang="en-US" sz="2000"/>
          </a:p>
          <a:p>
            <a:r>
              <a:rPr lang="pt-PT" altLang="en-US" sz="2000">
                <a:sym typeface="+mn-ea"/>
              </a:rPr>
              <a:t>(1.,1.,1.,1.), 1.0</a:t>
            </a:r>
            <a:endParaRPr lang="pt-PT" altLang="en-US" sz="2000"/>
          </a:p>
        </p:txBody>
      </p:sp>
      <p:sp>
        <p:nvSpPr>
          <p:cNvPr id="23" name="Text Box 22"/>
          <p:cNvSpPr txBox="1"/>
          <p:nvPr/>
        </p:nvSpPr>
        <p:spPr>
          <a:xfrm>
            <a:off x="8824595" y="4679950"/>
            <a:ext cx="2418715" cy="706755"/>
          </a:xfrm>
          <a:prstGeom prst="rect">
            <a:avLst/>
          </a:prstGeom>
          <a:noFill/>
        </p:spPr>
        <p:txBody>
          <a:bodyPr wrap="square" rtlCol="0">
            <a:spAutoFit/>
          </a:bodyPr>
          <a:p>
            <a:r>
              <a:rPr lang="pt-PT" altLang="en-US" sz="2000">
                <a:sym typeface="+mn-ea"/>
              </a:rPr>
              <a:t>(0.5,0.5)</a:t>
            </a:r>
            <a:endParaRPr lang="pt-PT" altLang="en-US" sz="2000"/>
          </a:p>
          <a:p>
            <a:r>
              <a:rPr lang="pt-PT" altLang="en-US" sz="2000">
                <a:sym typeface="+mn-ea"/>
              </a:rPr>
              <a:t>(0.2,0.2,0.2,1.), 1.0</a:t>
            </a:r>
            <a:endParaRPr lang="pt-PT" altLang="en-US" sz="2000"/>
          </a:p>
        </p:txBody>
      </p:sp>
      <p:sp>
        <p:nvSpPr>
          <p:cNvPr id="3" name="Text Box 2"/>
          <p:cNvSpPr txBox="1"/>
          <p:nvPr/>
        </p:nvSpPr>
        <p:spPr>
          <a:xfrm>
            <a:off x="396875" y="5827395"/>
            <a:ext cx="11386185" cy="953135"/>
          </a:xfrm>
          <a:prstGeom prst="rect">
            <a:avLst/>
          </a:prstGeom>
          <a:noFill/>
        </p:spPr>
        <p:txBody>
          <a:bodyPr wrap="square" rtlCol="0">
            <a:spAutoFit/>
          </a:bodyPr>
          <a:p>
            <a:r>
              <a:rPr lang="en-US" sz="2800"/>
              <a:t>Arbitrary components from arbitrary entities filled with arbitrary data in a random order</a:t>
            </a:r>
            <a:endParaRPr lang="en-US" sz="2800"/>
          </a:p>
        </p:txBody>
      </p:sp>
      <p:sp>
        <p:nvSpPr>
          <p:cNvPr id="4" name="Text Box 3"/>
          <p:cNvSpPr txBox="1"/>
          <p:nvPr/>
        </p:nvSpPr>
        <p:spPr>
          <a:xfrm>
            <a:off x="11383645" y="304165"/>
            <a:ext cx="492125" cy="368300"/>
          </a:xfrm>
          <a:prstGeom prst="rect">
            <a:avLst/>
          </a:prstGeom>
          <a:noFill/>
        </p:spPr>
        <p:txBody>
          <a:bodyPr wrap="square" rtlCol="0">
            <a:spAutoFit/>
          </a:bodyPr>
          <a:p>
            <a:r>
              <a:rPr lang="pt-PT" altLang="en-US"/>
              <a:t>16</a:t>
            </a:r>
            <a:endParaRPr lang="pt-PT"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365125" y="3926205"/>
            <a:ext cx="11455400" cy="1568450"/>
          </a:xfrm>
          <a:prstGeom prst="rect">
            <a:avLst/>
          </a:prstGeom>
          <a:noFill/>
        </p:spPr>
        <p:txBody>
          <a:bodyPr wrap="square" rtlCol="0" anchor="t">
            <a:spAutoFit/>
          </a:bodyPr>
          <a:p>
            <a:r>
              <a:rPr lang="en-US" sz="3200"/>
              <a:t>At first glance increased the cost of retrieving the original data. We now have to do N function calls, with N being the number of components in our object.</a:t>
            </a:r>
            <a:endParaRPr lang="en-US" sz="3200"/>
          </a:p>
        </p:txBody>
      </p:sp>
      <p:sp>
        <p:nvSpPr>
          <p:cNvPr id="6" name="Text Box 5"/>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Explaining the ECS method: System</a:t>
            </a:r>
            <a:endParaRPr lang="pt-PT" altLang="en-US" sz="4000">
              <a:solidFill>
                <a:schemeClr val="tx1"/>
              </a:solidFill>
              <a:effectLst>
                <a:outerShdw blurRad="38100" dist="19050" dir="2700000" algn="tl" rotWithShape="0">
                  <a:schemeClr val="dk1">
                    <a:alpha val="40000"/>
                  </a:schemeClr>
                </a:outerShdw>
              </a:effectLst>
            </a:endParaRPr>
          </a:p>
        </p:txBody>
      </p:sp>
      <p:sp>
        <p:nvSpPr>
          <p:cNvPr id="9" name="Text Box 8"/>
          <p:cNvSpPr txBox="1"/>
          <p:nvPr/>
        </p:nvSpPr>
        <p:spPr>
          <a:xfrm>
            <a:off x="365125" y="1729740"/>
            <a:ext cx="11290300" cy="2061210"/>
          </a:xfrm>
          <a:prstGeom prst="rect">
            <a:avLst/>
          </a:prstGeom>
        </p:spPr>
        <p:style>
          <a:lnRef idx="2">
            <a:schemeClr val="accent2"/>
          </a:lnRef>
          <a:fillRef idx="1">
            <a:schemeClr val="lt1"/>
          </a:fillRef>
          <a:effectRef idx="0">
            <a:schemeClr val="accent2"/>
          </a:effectRef>
          <a:fontRef idx="minor">
            <a:schemeClr val="dk1"/>
          </a:fontRef>
        </p:style>
        <p:txBody>
          <a:bodyPr wrap="square" rtlCol="0" anchor="t">
            <a:spAutoFit/>
          </a:bodyPr>
          <a:p>
            <a:r>
              <a:rPr lang="pt-PT" altLang="en-US" sz="3200">
                <a:solidFill>
                  <a:srgbClr val="FF6600"/>
                </a:solidFill>
                <a:sym typeface="+mn-ea"/>
              </a:rPr>
              <a:t>call getComponent </a:t>
            </a:r>
            <a:r>
              <a:rPr lang="pt-PT" altLang="en-US" sz="3200">
                <a:solidFill>
                  <a:schemeClr val="tx1"/>
                </a:solidFill>
                <a:sym typeface="+mn-ea"/>
              </a:rPr>
              <a:t>velocity </a:t>
            </a:r>
            <a:r>
              <a:rPr lang="pt-PT" altLang="en-US" sz="3200">
                <a:solidFill>
                  <a:srgbClr val="0070C0"/>
                </a:solidFill>
                <a:sym typeface="+mn-ea"/>
              </a:rPr>
              <a:t>at</a:t>
            </a:r>
            <a:r>
              <a:rPr lang="pt-PT" altLang="en-US" sz="3200">
                <a:solidFill>
                  <a:srgbClr val="00B0F0"/>
                </a:solidFill>
                <a:sym typeface="+mn-ea"/>
              </a:rPr>
              <a:t> </a:t>
            </a:r>
            <a:r>
              <a:rPr lang="pt-PT" altLang="en-US" sz="3200">
                <a:solidFill>
                  <a:schemeClr val="tx1"/>
                </a:solidFill>
                <a:sym typeface="+mn-ea"/>
              </a:rPr>
              <a:t>index </a:t>
            </a:r>
            <a:r>
              <a:rPr lang="pt-PT" altLang="en-US" sz="3200">
                <a:solidFill>
                  <a:srgbClr val="FF0000"/>
                </a:solidFill>
                <a:sym typeface="+mn-ea"/>
              </a:rPr>
              <a:t>1</a:t>
            </a:r>
            <a:r>
              <a:rPr lang="pt-PT" altLang="en-US" sz="3200">
                <a:solidFill>
                  <a:schemeClr val="bg1">
                    <a:lumMod val="50000"/>
                  </a:schemeClr>
                </a:solidFill>
                <a:sym typeface="+mn-ea"/>
              </a:rPr>
              <a:t> // { (0.2,0.3,0.0) }</a:t>
            </a:r>
            <a:endParaRPr lang="pt-PT" altLang="en-US" sz="3200">
              <a:solidFill>
                <a:schemeClr val="bg1">
                  <a:lumMod val="50000"/>
                </a:schemeClr>
              </a:solidFill>
              <a:sym typeface="+mn-ea"/>
            </a:endParaRPr>
          </a:p>
          <a:p>
            <a:r>
              <a:rPr lang="pt-PT" altLang="en-US" sz="3200">
                <a:solidFill>
                  <a:srgbClr val="FF6600"/>
                </a:solidFill>
                <a:sym typeface="+mn-ea"/>
              </a:rPr>
              <a:t>call getComponent </a:t>
            </a:r>
            <a:r>
              <a:rPr lang="pt-PT" altLang="en-US" sz="3200">
                <a:solidFill>
                  <a:schemeClr val="tx1"/>
                </a:solidFill>
                <a:sym typeface="+mn-ea"/>
              </a:rPr>
              <a:t>transform </a:t>
            </a:r>
            <a:r>
              <a:rPr lang="pt-PT" altLang="en-US" sz="3200">
                <a:solidFill>
                  <a:srgbClr val="0070C0"/>
                </a:solidFill>
                <a:sym typeface="+mn-ea"/>
              </a:rPr>
              <a:t>at</a:t>
            </a:r>
            <a:r>
              <a:rPr lang="pt-PT" altLang="en-US" sz="3200">
                <a:solidFill>
                  <a:srgbClr val="00B0F0"/>
                </a:solidFill>
                <a:sym typeface="+mn-ea"/>
              </a:rPr>
              <a:t> </a:t>
            </a:r>
            <a:r>
              <a:rPr lang="pt-PT" altLang="en-US" sz="3200">
                <a:solidFill>
                  <a:schemeClr val="tx1"/>
                </a:solidFill>
                <a:sym typeface="+mn-ea"/>
              </a:rPr>
              <a:t>index </a:t>
            </a:r>
            <a:r>
              <a:rPr lang="pt-PT" altLang="en-US" sz="3200">
                <a:solidFill>
                  <a:srgbClr val="FF0000"/>
                </a:solidFill>
                <a:sym typeface="+mn-ea"/>
              </a:rPr>
              <a:t>1</a:t>
            </a:r>
            <a:r>
              <a:rPr lang="pt-PT" altLang="en-US" sz="3200">
                <a:solidFill>
                  <a:schemeClr val="tx1"/>
                </a:solidFill>
                <a:sym typeface="+mn-ea"/>
              </a:rPr>
              <a:t> </a:t>
            </a:r>
            <a:r>
              <a:rPr lang="pt-PT" altLang="en-US" sz="3200">
                <a:solidFill>
                  <a:schemeClr val="bg1">
                    <a:lumMod val="50000"/>
                  </a:schemeClr>
                </a:solidFill>
                <a:sym typeface="+mn-ea"/>
              </a:rPr>
              <a:t>// { (0.0,0.0,0.0) }</a:t>
            </a:r>
            <a:endParaRPr lang="pt-PT" altLang="en-US" sz="3200">
              <a:solidFill>
                <a:schemeClr val="tx1"/>
              </a:solidFill>
              <a:sym typeface="+mn-ea"/>
            </a:endParaRPr>
          </a:p>
          <a:p>
            <a:r>
              <a:rPr lang="pt-PT" altLang="en-US" sz="3200">
                <a:solidFill>
                  <a:srgbClr val="FF6600"/>
                </a:solidFill>
                <a:sym typeface="+mn-ea"/>
              </a:rPr>
              <a:t>call getComponent </a:t>
            </a:r>
            <a:r>
              <a:rPr lang="pt-PT" altLang="en-US" sz="3200">
                <a:solidFill>
                  <a:schemeClr val="tx1"/>
                </a:solidFill>
                <a:sym typeface="+mn-ea"/>
              </a:rPr>
              <a:t>sprite </a:t>
            </a:r>
            <a:r>
              <a:rPr lang="pt-PT" altLang="en-US" sz="3200">
                <a:solidFill>
                  <a:srgbClr val="0070C0"/>
                </a:solidFill>
                <a:sym typeface="+mn-ea"/>
              </a:rPr>
              <a:t>at</a:t>
            </a:r>
            <a:r>
              <a:rPr lang="pt-PT" altLang="en-US" sz="3200">
                <a:solidFill>
                  <a:srgbClr val="00B0F0"/>
                </a:solidFill>
                <a:sym typeface="+mn-ea"/>
              </a:rPr>
              <a:t> </a:t>
            </a:r>
            <a:r>
              <a:rPr lang="pt-PT" altLang="en-US" sz="3200">
                <a:solidFill>
                  <a:schemeClr val="tx1"/>
                </a:solidFill>
                <a:sym typeface="+mn-ea"/>
              </a:rPr>
              <a:t>index </a:t>
            </a:r>
            <a:r>
              <a:rPr lang="pt-PT" altLang="en-US" sz="3200">
                <a:solidFill>
                  <a:srgbClr val="FF0000"/>
                </a:solidFill>
                <a:sym typeface="+mn-ea"/>
              </a:rPr>
              <a:t>1</a:t>
            </a:r>
            <a:r>
              <a:rPr lang="pt-PT" altLang="en-US" sz="3200">
                <a:solidFill>
                  <a:schemeClr val="tx1"/>
                </a:solidFill>
                <a:sym typeface="+mn-ea"/>
              </a:rPr>
              <a:t> </a:t>
            </a:r>
            <a:r>
              <a:rPr lang="pt-PT" altLang="en-US" sz="3200">
                <a:solidFill>
                  <a:schemeClr val="bg1">
                    <a:lumMod val="50000"/>
                  </a:schemeClr>
                </a:solidFill>
                <a:sym typeface="+mn-ea"/>
              </a:rPr>
              <a:t>// { (0.1,0.1), (1.0,1.0,1.0,1.0), 1.0 }</a:t>
            </a:r>
            <a:endParaRPr lang="pt-PT" altLang="en-US" sz="3200">
              <a:solidFill>
                <a:schemeClr val="bg1">
                  <a:lumMod val="50000"/>
                </a:schemeClr>
              </a:solidFill>
              <a:sym typeface="+mn-ea"/>
            </a:endParaRPr>
          </a:p>
        </p:txBody>
      </p:sp>
      <p:sp>
        <p:nvSpPr>
          <p:cNvPr id="7" name="Text Box 6"/>
          <p:cNvSpPr txBox="1"/>
          <p:nvPr/>
        </p:nvSpPr>
        <p:spPr>
          <a:xfrm>
            <a:off x="452755" y="1010920"/>
            <a:ext cx="11286490" cy="583565"/>
          </a:xfrm>
          <a:prstGeom prst="rect">
            <a:avLst/>
          </a:prstGeom>
          <a:noFill/>
        </p:spPr>
        <p:txBody>
          <a:bodyPr wrap="square" rtlCol="0" anchor="t">
            <a:spAutoFit/>
          </a:bodyPr>
          <a:p>
            <a:r>
              <a:rPr lang="pt-PT" altLang="en-US" sz="3200"/>
              <a:t>O</a:t>
            </a:r>
            <a:r>
              <a:rPr lang="en-US" sz="3200"/>
              <a:t>bject can still be fully accessed if you search for the index</a:t>
            </a:r>
            <a:r>
              <a:rPr lang="pt-PT" altLang="en-US" sz="3200"/>
              <a:t> 1</a:t>
            </a:r>
            <a:r>
              <a:rPr lang="en-US" sz="3200"/>
              <a:t> </a:t>
            </a:r>
            <a:endParaRPr lang="en-US" sz="3200"/>
          </a:p>
        </p:txBody>
      </p:sp>
      <p:sp>
        <p:nvSpPr>
          <p:cNvPr id="4" name="Text Box 3"/>
          <p:cNvSpPr txBox="1"/>
          <p:nvPr/>
        </p:nvSpPr>
        <p:spPr>
          <a:xfrm>
            <a:off x="11383645" y="304165"/>
            <a:ext cx="492125" cy="368300"/>
          </a:xfrm>
          <a:prstGeom prst="rect">
            <a:avLst/>
          </a:prstGeom>
          <a:noFill/>
        </p:spPr>
        <p:txBody>
          <a:bodyPr wrap="square" rtlCol="0">
            <a:spAutoFit/>
          </a:bodyPr>
          <a:p>
            <a:r>
              <a:rPr lang="pt-PT" altLang="en-US"/>
              <a:t>17</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Explaining the ECS method: System</a:t>
            </a:r>
            <a:endParaRPr lang="pt-PT" altLang="en-US" sz="4000">
              <a:solidFill>
                <a:schemeClr val="tx1"/>
              </a:solidFill>
              <a:effectLst>
                <a:outerShdw blurRad="38100" dist="19050" dir="2700000" algn="tl" rotWithShape="0">
                  <a:schemeClr val="dk1">
                    <a:alpha val="40000"/>
                  </a:schemeClr>
                </a:outerShdw>
              </a:effectLst>
            </a:endParaRPr>
          </a:p>
        </p:txBody>
      </p:sp>
      <p:sp>
        <p:nvSpPr>
          <p:cNvPr id="7" name="Text Box 6"/>
          <p:cNvSpPr txBox="1"/>
          <p:nvPr/>
        </p:nvSpPr>
        <p:spPr>
          <a:xfrm>
            <a:off x="452755" y="1010920"/>
            <a:ext cx="11286490" cy="583565"/>
          </a:xfrm>
          <a:prstGeom prst="rect">
            <a:avLst/>
          </a:prstGeom>
          <a:noFill/>
        </p:spPr>
        <p:txBody>
          <a:bodyPr wrap="square" rtlCol="0" anchor="t">
            <a:spAutoFit/>
          </a:bodyPr>
          <a:p>
            <a:r>
              <a:rPr lang="pt-PT" sz="3200"/>
              <a:t>L</a:t>
            </a:r>
            <a:r>
              <a:rPr sz="3200"/>
              <a:t>et's consider the previous loop to update the enemy object:</a:t>
            </a:r>
            <a:endParaRPr sz="3200"/>
          </a:p>
        </p:txBody>
      </p:sp>
      <p:sp>
        <p:nvSpPr>
          <p:cNvPr id="2" name="Text Box 1"/>
          <p:cNvSpPr txBox="1"/>
          <p:nvPr/>
        </p:nvSpPr>
        <p:spPr>
          <a:xfrm>
            <a:off x="452755" y="1594485"/>
            <a:ext cx="4571365" cy="22453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800">
                <a:solidFill>
                  <a:srgbClr val="FF6600"/>
                </a:solidFill>
              </a:rPr>
              <a:t>For each </a:t>
            </a:r>
            <a:r>
              <a:rPr lang="en-US" sz="2800"/>
              <a:t>Enemy</a:t>
            </a:r>
            <a:endParaRPr lang="en-US" sz="2800"/>
          </a:p>
          <a:p>
            <a:pPr>
              <a:lnSpc>
                <a:spcPct val="100000"/>
              </a:lnSpc>
            </a:pPr>
            <a:r>
              <a:rPr lang="en-US" sz="2800"/>
              <a:t>    </a:t>
            </a:r>
            <a:r>
              <a:rPr lang="en-US" sz="2800">
                <a:solidFill>
                  <a:srgbClr val="FF6600"/>
                </a:solidFill>
              </a:rPr>
              <a:t>call </a:t>
            </a:r>
            <a:r>
              <a:rPr lang="en-US" sz="2800"/>
              <a:t>updatePhysics</a:t>
            </a:r>
            <a:endParaRPr lang="en-US" sz="2800"/>
          </a:p>
          <a:p>
            <a:pPr>
              <a:lnSpc>
                <a:spcPct val="100000"/>
              </a:lnSpc>
            </a:pPr>
            <a:r>
              <a:rPr lang="en-US" sz="2800"/>
              <a:t>    </a:t>
            </a:r>
            <a:r>
              <a:rPr lang="en-US" sz="2800">
                <a:solidFill>
                  <a:srgbClr val="FF6600"/>
                </a:solidFill>
                <a:sym typeface="+mn-ea"/>
              </a:rPr>
              <a:t>call </a:t>
            </a:r>
            <a:r>
              <a:rPr lang="en-US" sz="2800"/>
              <a:t>checkCollisions</a:t>
            </a:r>
            <a:endParaRPr lang="en-US" sz="2800"/>
          </a:p>
          <a:p>
            <a:pPr>
              <a:lnSpc>
                <a:spcPct val="100000"/>
              </a:lnSpc>
            </a:pPr>
            <a:r>
              <a:rPr lang="en-US" sz="2800"/>
              <a:t>    </a:t>
            </a:r>
            <a:r>
              <a:rPr lang="en-US" sz="2800">
                <a:solidFill>
                  <a:srgbClr val="FF6600"/>
                </a:solidFill>
                <a:sym typeface="+mn-ea"/>
              </a:rPr>
              <a:t>call </a:t>
            </a:r>
            <a:r>
              <a:rPr lang="en-US" sz="2800"/>
              <a:t>move</a:t>
            </a:r>
            <a:endParaRPr lang="en-US" sz="2800"/>
          </a:p>
          <a:p>
            <a:pPr>
              <a:lnSpc>
                <a:spcPct val="100000"/>
              </a:lnSpc>
            </a:pPr>
            <a:r>
              <a:rPr lang="en-US" sz="2800"/>
              <a:t>    </a:t>
            </a:r>
            <a:r>
              <a:rPr lang="en-US" sz="2800">
                <a:solidFill>
                  <a:srgbClr val="FF6600"/>
                </a:solidFill>
                <a:sym typeface="+mn-ea"/>
              </a:rPr>
              <a:t>call </a:t>
            </a:r>
            <a:r>
              <a:rPr lang="en-US" sz="2800"/>
              <a:t>render</a:t>
            </a:r>
            <a:endParaRPr lang="en-US" sz="2800">
              <a:solidFill>
                <a:schemeClr val="bg1">
                  <a:lumMod val="50000"/>
                </a:schemeClr>
              </a:solidFill>
            </a:endParaRPr>
          </a:p>
        </p:txBody>
      </p:sp>
      <p:cxnSp>
        <p:nvCxnSpPr>
          <p:cNvPr id="4" name="Straight Arrow Connector 3"/>
          <p:cNvCxnSpPr/>
          <p:nvPr/>
        </p:nvCxnSpPr>
        <p:spPr>
          <a:xfrm>
            <a:off x="4314825" y="1703070"/>
            <a:ext cx="0" cy="2114550"/>
          </a:xfrm>
          <a:prstGeom prst="straightConnector1">
            <a:avLst/>
          </a:prstGeom>
          <a:gradFill rotWithShape="0">
            <a:gsLst>
              <a:gs pos="0">
                <a:schemeClr val="accent1"/>
              </a:gs>
              <a:gs pos="100000">
                <a:schemeClr val="accent2"/>
              </a:gs>
            </a:gsLst>
            <a:lin ang="5400000" scaled="1"/>
          </a:gradFill>
          <a:ln w="79375" cap="flat" cmpd="sng" algn="ctr">
            <a:solidFill>
              <a:schemeClr val="accent1"/>
            </a:solidFill>
            <a:prstDash val="solid"/>
            <a:round/>
            <a:headEnd type="none" w="med" len="med"/>
            <a:tailEnd type="arrow" w="med" len="med"/>
          </a:ln>
        </p:spPr>
      </p:cxnSp>
      <p:sp>
        <p:nvSpPr>
          <p:cNvPr id="3" name="Text Box 2"/>
          <p:cNvSpPr txBox="1"/>
          <p:nvPr/>
        </p:nvSpPr>
        <p:spPr>
          <a:xfrm>
            <a:off x="11383645" y="304165"/>
            <a:ext cx="492125" cy="368300"/>
          </a:xfrm>
          <a:prstGeom prst="rect">
            <a:avLst/>
          </a:prstGeom>
          <a:noFill/>
        </p:spPr>
        <p:txBody>
          <a:bodyPr wrap="square" rtlCol="0">
            <a:spAutoFit/>
          </a:bodyPr>
          <a:p>
            <a:r>
              <a:rPr lang="pt-PT" altLang="en-US"/>
              <a:t>18</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Explaining the ECS method: System</a:t>
            </a:r>
            <a:endParaRPr lang="pt-PT" altLang="en-US" sz="4000">
              <a:solidFill>
                <a:schemeClr val="tx1"/>
              </a:solidFill>
              <a:effectLst>
                <a:outerShdw blurRad="38100" dist="19050" dir="2700000" algn="tl" rotWithShape="0">
                  <a:schemeClr val="dk1">
                    <a:alpha val="40000"/>
                  </a:schemeClr>
                </a:outerShdw>
              </a:effectLst>
            </a:endParaRPr>
          </a:p>
        </p:txBody>
      </p:sp>
      <p:sp>
        <p:nvSpPr>
          <p:cNvPr id="7" name="Text Box 6"/>
          <p:cNvSpPr txBox="1"/>
          <p:nvPr/>
        </p:nvSpPr>
        <p:spPr>
          <a:xfrm>
            <a:off x="452755" y="1010920"/>
            <a:ext cx="11286490" cy="583565"/>
          </a:xfrm>
          <a:prstGeom prst="rect">
            <a:avLst/>
          </a:prstGeom>
          <a:noFill/>
        </p:spPr>
        <p:txBody>
          <a:bodyPr wrap="square" rtlCol="0" anchor="t">
            <a:spAutoFit/>
          </a:bodyPr>
          <a:p>
            <a:r>
              <a:rPr lang="pt-PT" sz="3200"/>
              <a:t>L</a:t>
            </a:r>
            <a:r>
              <a:rPr sz="3200"/>
              <a:t>et's consider the previous loop to update the enemy object:</a:t>
            </a:r>
            <a:endParaRPr sz="3200"/>
          </a:p>
        </p:txBody>
      </p:sp>
      <p:sp>
        <p:nvSpPr>
          <p:cNvPr id="2" name="Text Box 1"/>
          <p:cNvSpPr txBox="1"/>
          <p:nvPr/>
        </p:nvSpPr>
        <p:spPr>
          <a:xfrm>
            <a:off x="452755" y="1594485"/>
            <a:ext cx="10857230" cy="3538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800">
                <a:solidFill>
                  <a:srgbClr val="FF6600"/>
                </a:solidFill>
              </a:rPr>
              <a:t>For each</a:t>
            </a:r>
            <a:r>
              <a:rPr lang="en-US" sz="2800"/>
              <a:t> Pyhsics Component</a:t>
            </a:r>
            <a:r>
              <a:rPr lang="pt-PT" altLang="en-US" sz="2800"/>
              <a:t> </a:t>
            </a:r>
            <a:r>
              <a:rPr lang="en-US" sz="2800">
                <a:solidFill>
                  <a:schemeClr val="bg1">
                    <a:lumMod val="50000"/>
                  </a:schemeClr>
                </a:solidFill>
                <a:sym typeface="+mn-ea"/>
              </a:rPr>
              <a:t>// physics</a:t>
            </a:r>
            <a:r>
              <a:rPr lang="pt-PT" altLang="en-US" sz="2800">
                <a:solidFill>
                  <a:schemeClr val="bg1">
                    <a:lumMod val="50000"/>
                  </a:schemeClr>
                </a:solidFill>
                <a:sym typeface="+mn-ea"/>
              </a:rPr>
              <a:t> </a:t>
            </a:r>
            <a:r>
              <a:rPr lang="en-US" sz="2800">
                <a:solidFill>
                  <a:schemeClr val="bg1">
                    <a:lumMod val="50000"/>
                  </a:schemeClr>
                </a:solidFill>
                <a:sym typeface="+mn-ea"/>
              </a:rPr>
              <a:t>system</a:t>
            </a:r>
            <a:endParaRPr lang="en-US" sz="2800">
              <a:solidFill>
                <a:schemeClr val="bg1">
                  <a:lumMod val="50000"/>
                </a:schemeClr>
              </a:solidFill>
            </a:endParaRPr>
          </a:p>
          <a:p>
            <a:pPr>
              <a:lnSpc>
                <a:spcPct val="100000"/>
              </a:lnSpc>
            </a:pPr>
            <a:r>
              <a:rPr lang="en-US" sz="2800">
                <a:solidFill>
                  <a:schemeClr val="bg1">
                    <a:lumMod val="50000"/>
                  </a:schemeClr>
                </a:solidFill>
              </a:rPr>
              <a:t>    updatePhysics</a:t>
            </a:r>
            <a:endParaRPr lang="en-US" sz="2800"/>
          </a:p>
          <a:p>
            <a:pPr>
              <a:lnSpc>
                <a:spcPct val="100000"/>
              </a:lnSpc>
            </a:pPr>
            <a:r>
              <a:rPr lang="en-US" sz="2800">
                <a:solidFill>
                  <a:srgbClr val="FF6600"/>
                </a:solidFill>
                <a:sym typeface="+mn-ea"/>
              </a:rPr>
              <a:t>For each</a:t>
            </a:r>
            <a:r>
              <a:rPr lang="en-US" sz="2800"/>
              <a:t> Collision Component</a:t>
            </a:r>
            <a:r>
              <a:rPr lang="pt-PT" altLang="en-US" sz="2800"/>
              <a:t> </a:t>
            </a:r>
            <a:r>
              <a:rPr lang="en-US" sz="2800">
                <a:solidFill>
                  <a:schemeClr val="bg1">
                    <a:lumMod val="50000"/>
                  </a:schemeClr>
                </a:solidFill>
                <a:sym typeface="+mn-ea"/>
              </a:rPr>
              <a:t>// collisions system</a:t>
            </a:r>
            <a:endParaRPr lang="en-US" sz="2800">
              <a:solidFill>
                <a:schemeClr val="bg1">
                  <a:lumMod val="50000"/>
                </a:schemeClr>
              </a:solidFill>
            </a:endParaRPr>
          </a:p>
          <a:p>
            <a:pPr>
              <a:lnSpc>
                <a:spcPct val="100000"/>
              </a:lnSpc>
            </a:pPr>
            <a:r>
              <a:rPr lang="en-US" sz="2800">
                <a:solidFill>
                  <a:schemeClr val="bg1">
                    <a:lumMod val="50000"/>
                  </a:schemeClr>
                </a:solidFill>
              </a:rPr>
              <a:t>    check</a:t>
            </a:r>
            <a:r>
              <a:rPr lang="pt-PT" altLang="en-US" sz="2800">
                <a:solidFill>
                  <a:schemeClr val="bg1">
                    <a:lumMod val="50000"/>
                  </a:schemeClr>
                </a:solidFill>
              </a:rPr>
              <a:t>C</a:t>
            </a:r>
            <a:r>
              <a:rPr lang="en-US" sz="2800">
                <a:solidFill>
                  <a:schemeClr val="bg1">
                    <a:lumMod val="50000"/>
                  </a:schemeClr>
                </a:solidFill>
              </a:rPr>
              <a:t>ollisions</a:t>
            </a:r>
            <a:endParaRPr lang="en-US" sz="2800"/>
          </a:p>
          <a:p>
            <a:pPr>
              <a:lnSpc>
                <a:spcPct val="100000"/>
              </a:lnSpc>
            </a:pPr>
            <a:r>
              <a:rPr lang="en-US" sz="2800">
                <a:solidFill>
                  <a:srgbClr val="FF6600"/>
                </a:solidFill>
                <a:sym typeface="+mn-ea"/>
              </a:rPr>
              <a:t>For each</a:t>
            </a:r>
            <a:r>
              <a:rPr lang="en-US" sz="2800"/>
              <a:t> Movement Component</a:t>
            </a:r>
            <a:r>
              <a:rPr lang="pt-PT" altLang="en-US" sz="2800">
                <a:solidFill>
                  <a:schemeClr val="bg1">
                    <a:lumMod val="50000"/>
                  </a:schemeClr>
                </a:solidFill>
              </a:rPr>
              <a:t> </a:t>
            </a:r>
            <a:r>
              <a:rPr lang="en-US" sz="2800">
                <a:solidFill>
                  <a:schemeClr val="bg1">
                    <a:lumMod val="50000"/>
                  </a:schemeClr>
                </a:solidFill>
                <a:sym typeface="+mn-ea"/>
              </a:rPr>
              <a:t>// movement system</a:t>
            </a:r>
            <a:endParaRPr lang="en-US" sz="2800">
              <a:solidFill>
                <a:schemeClr val="bg1">
                  <a:lumMod val="50000"/>
                </a:schemeClr>
              </a:solidFill>
            </a:endParaRPr>
          </a:p>
          <a:p>
            <a:pPr>
              <a:lnSpc>
                <a:spcPct val="100000"/>
              </a:lnSpc>
            </a:pPr>
            <a:r>
              <a:rPr lang="en-US" sz="2800">
                <a:solidFill>
                  <a:schemeClr val="bg1">
                    <a:lumMod val="50000"/>
                  </a:schemeClr>
                </a:solidFill>
              </a:rPr>
              <a:t>    move</a:t>
            </a:r>
            <a:endParaRPr lang="en-US" sz="2800"/>
          </a:p>
          <a:p>
            <a:pPr>
              <a:lnSpc>
                <a:spcPct val="100000"/>
              </a:lnSpc>
            </a:pPr>
            <a:r>
              <a:rPr lang="en-US" sz="2800">
                <a:solidFill>
                  <a:srgbClr val="FF6600"/>
                </a:solidFill>
                <a:sym typeface="+mn-ea"/>
              </a:rPr>
              <a:t>For each</a:t>
            </a:r>
            <a:r>
              <a:rPr lang="en-US" sz="2800"/>
              <a:t> Render Component</a:t>
            </a:r>
            <a:r>
              <a:rPr lang="pt-PT" altLang="en-US" sz="2800"/>
              <a:t> </a:t>
            </a:r>
            <a:r>
              <a:rPr lang="en-US" sz="2800">
                <a:solidFill>
                  <a:schemeClr val="bg1">
                    <a:lumMod val="50000"/>
                  </a:schemeClr>
                </a:solidFill>
                <a:sym typeface="+mn-ea"/>
              </a:rPr>
              <a:t>// render system</a:t>
            </a:r>
            <a:endParaRPr lang="en-US" sz="2800">
              <a:solidFill>
                <a:schemeClr val="bg1">
                  <a:lumMod val="50000"/>
                </a:schemeClr>
              </a:solidFill>
            </a:endParaRPr>
          </a:p>
          <a:p>
            <a:pPr>
              <a:lnSpc>
                <a:spcPct val="100000"/>
              </a:lnSpc>
            </a:pPr>
            <a:r>
              <a:rPr lang="en-US" sz="2800">
                <a:solidFill>
                  <a:schemeClr val="bg1">
                    <a:lumMod val="50000"/>
                  </a:schemeClr>
                </a:solidFill>
              </a:rPr>
              <a:t>    render</a:t>
            </a:r>
            <a:endParaRPr lang="en-US" sz="2800">
              <a:solidFill>
                <a:schemeClr val="bg1">
                  <a:lumMod val="50000"/>
                </a:schemeClr>
              </a:solidFill>
            </a:endParaRPr>
          </a:p>
        </p:txBody>
      </p:sp>
      <p:sp>
        <p:nvSpPr>
          <p:cNvPr id="4" name="Text Box 3"/>
          <p:cNvSpPr txBox="1"/>
          <p:nvPr/>
        </p:nvSpPr>
        <p:spPr>
          <a:xfrm>
            <a:off x="11383645" y="304165"/>
            <a:ext cx="492125" cy="368300"/>
          </a:xfrm>
          <a:prstGeom prst="rect">
            <a:avLst/>
          </a:prstGeom>
          <a:noFill/>
        </p:spPr>
        <p:txBody>
          <a:bodyPr wrap="square" rtlCol="0">
            <a:spAutoFit/>
          </a:bodyPr>
          <a:p>
            <a:r>
              <a:rPr lang="pt-PT" altLang="en-US"/>
              <a:t>19</a:t>
            </a:r>
            <a:endParaRPr lang="pt-PT"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Explaining the ECS method: System</a:t>
            </a:r>
            <a:endParaRPr lang="pt-PT" altLang="en-US" sz="4000">
              <a:solidFill>
                <a:schemeClr val="tx1"/>
              </a:solidFill>
              <a:effectLst>
                <a:outerShdw blurRad="38100" dist="19050" dir="2700000" algn="tl" rotWithShape="0">
                  <a:schemeClr val="dk1">
                    <a:alpha val="40000"/>
                  </a:schemeClr>
                </a:outerShdw>
              </a:effectLst>
            </a:endParaRPr>
          </a:p>
        </p:txBody>
      </p:sp>
      <p:sp>
        <p:nvSpPr>
          <p:cNvPr id="7" name="Text Box 6"/>
          <p:cNvSpPr txBox="1"/>
          <p:nvPr/>
        </p:nvSpPr>
        <p:spPr>
          <a:xfrm>
            <a:off x="452755" y="1010920"/>
            <a:ext cx="11286490" cy="583565"/>
          </a:xfrm>
          <a:prstGeom prst="rect">
            <a:avLst/>
          </a:prstGeom>
          <a:noFill/>
        </p:spPr>
        <p:txBody>
          <a:bodyPr wrap="square" rtlCol="0" anchor="t">
            <a:spAutoFit/>
          </a:bodyPr>
          <a:p>
            <a:r>
              <a:rPr lang="pt-PT" sz="3200"/>
              <a:t>L</a:t>
            </a:r>
            <a:r>
              <a:rPr sz="3200"/>
              <a:t>et's consider the previous loop to update the enemy object:</a:t>
            </a:r>
            <a:endParaRPr sz="3200"/>
          </a:p>
        </p:txBody>
      </p:sp>
      <p:sp>
        <p:nvSpPr>
          <p:cNvPr id="2" name="Text Box 1"/>
          <p:cNvSpPr txBox="1"/>
          <p:nvPr/>
        </p:nvSpPr>
        <p:spPr>
          <a:xfrm>
            <a:off x="452755" y="1594485"/>
            <a:ext cx="10857230" cy="3538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800">
                <a:solidFill>
                  <a:srgbClr val="FF6600"/>
                </a:solidFill>
              </a:rPr>
              <a:t>For each</a:t>
            </a:r>
            <a:r>
              <a:rPr lang="en-US" sz="2800"/>
              <a:t> Pyhsics Component</a:t>
            </a:r>
            <a:r>
              <a:rPr lang="pt-PT" altLang="en-US" sz="2800"/>
              <a:t> </a:t>
            </a:r>
            <a:r>
              <a:rPr lang="en-US" sz="2800">
                <a:solidFill>
                  <a:schemeClr val="bg1">
                    <a:lumMod val="50000"/>
                  </a:schemeClr>
                </a:solidFill>
                <a:sym typeface="+mn-ea"/>
              </a:rPr>
              <a:t>// physics</a:t>
            </a:r>
            <a:r>
              <a:rPr lang="pt-PT" altLang="en-US" sz="2800">
                <a:solidFill>
                  <a:schemeClr val="bg1">
                    <a:lumMod val="50000"/>
                  </a:schemeClr>
                </a:solidFill>
                <a:sym typeface="+mn-ea"/>
              </a:rPr>
              <a:t> </a:t>
            </a:r>
            <a:r>
              <a:rPr lang="en-US" sz="2800">
                <a:solidFill>
                  <a:schemeClr val="bg1">
                    <a:lumMod val="50000"/>
                  </a:schemeClr>
                </a:solidFill>
                <a:sym typeface="+mn-ea"/>
              </a:rPr>
              <a:t>system</a:t>
            </a:r>
            <a:endParaRPr lang="en-US" sz="2800">
              <a:solidFill>
                <a:schemeClr val="bg1">
                  <a:lumMod val="50000"/>
                </a:schemeClr>
              </a:solidFill>
            </a:endParaRPr>
          </a:p>
          <a:p>
            <a:pPr>
              <a:lnSpc>
                <a:spcPct val="100000"/>
              </a:lnSpc>
            </a:pPr>
            <a:r>
              <a:rPr lang="en-US" sz="2800">
                <a:solidFill>
                  <a:schemeClr val="bg1">
                    <a:lumMod val="50000"/>
                  </a:schemeClr>
                </a:solidFill>
              </a:rPr>
              <a:t>    updatePhysics</a:t>
            </a:r>
            <a:endParaRPr lang="en-US" sz="2800"/>
          </a:p>
          <a:p>
            <a:pPr>
              <a:lnSpc>
                <a:spcPct val="100000"/>
              </a:lnSpc>
            </a:pPr>
            <a:r>
              <a:rPr lang="en-US" sz="2800">
                <a:solidFill>
                  <a:srgbClr val="FF6600"/>
                </a:solidFill>
                <a:sym typeface="+mn-ea"/>
              </a:rPr>
              <a:t>For each</a:t>
            </a:r>
            <a:r>
              <a:rPr lang="en-US" sz="2800"/>
              <a:t> Collision Component</a:t>
            </a:r>
            <a:r>
              <a:rPr lang="pt-PT" altLang="en-US" sz="2800"/>
              <a:t> </a:t>
            </a:r>
            <a:r>
              <a:rPr lang="en-US" sz="2800">
                <a:solidFill>
                  <a:schemeClr val="bg1">
                    <a:lumMod val="50000"/>
                  </a:schemeClr>
                </a:solidFill>
                <a:sym typeface="+mn-ea"/>
              </a:rPr>
              <a:t>// collisions system</a:t>
            </a:r>
            <a:endParaRPr lang="en-US" sz="2800">
              <a:solidFill>
                <a:schemeClr val="bg1">
                  <a:lumMod val="50000"/>
                </a:schemeClr>
              </a:solidFill>
            </a:endParaRPr>
          </a:p>
          <a:p>
            <a:pPr>
              <a:lnSpc>
                <a:spcPct val="100000"/>
              </a:lnSpc>
            </a:pPr>
            <a:r>
              <a:rPr lang="en-US" sz="2800">
                <a:solidFill>
                  <a:schemeClr val="bg1">
                    <a:lumMod val="50000"/>
                  </a:schemeClr>
                </a:solidFill>
              </a:rPr>
              <a:t>    check</a:t>
            </a:r>
            <a:r>
              <a:rPr lang="pt-PT" altLang="en-US" sz="2800">
                <a:solidFill>
                  <a:schemeClr val="bg1">
                    <a:lumMod val="50000"/>
                  </a:schemeClr>
                </a:solidFill>
              </a:rPr>
              <a:t>C</a:t>
            </a:r>
            <a:r>
              <a:rPr lang="en-US" sz="2800">
                <a:solidFill>
                  <a:schemeClr val="bg1">
                    <a:lumMod val="50000"/>
                  </a:schemeClr>
                </a:solidFill>
              </a:rPr>
              <a:t>ollisions</a:t>
            </a:r>
            <a:endParaRPr lang="en-US" sz="2800"/>
          </a:p>
          <a:p>
            <a:pPr>
              <a:lnSpc>
                <a:spcPct val="100000"/>
              </a:lnSpc>
            </a:pPr>
            <a:r>
              <a:rPr lang="en-US" sz="2800">
                <a:solidFill>
                  <a:srgbClr val="FF6600"/>
                </a:solidFill>
                <a:sym typeface="+mn-ea"/>
              </a:rPr>
              <a:t>For each</a:t>
            </a:r>
            <a:r>
              <a:rPr lang="en-US" sz="2800"/>
              <a:t> Movement Component</a:t>
            </a:r>
            <a:r>
              <a:rPr lang="pt-PT" altLang="en-US" sz="2800">
                <a:solidFill>
                  <a:schemeClr val="bg1">
                    <a:lumMod val="50000"/>
                  </a:schemeClr>
                </a:solidFill>
              </a:rPr>
              <a:t> </a:t>
            </a:r>
            <a:r>
              <a:rPr lang="en-US" sz="2800">
                <a:solidFill>
                  <a:schemeClr val="bg1">
                    <a:lumMod val="50000"/>
                  </a:schemeClr>
                </a:solidFill>
                <a:sym typeface="+mn-ea"/>
              </a:rPr>
              <a:t>// movement system</a:t>
            </a:r>
            <a:endParaRPr lang="en-US" sz="2800">
              <a:solidFill>
                <a:schemeClr val="bg1">
                  <a:lumMod val="50000"/>
                </a:schemeClr>
              </a:solidFill>
            </a:endParaRPr>
          </a:p>
          <a:p>
            <a:pPr>
              <a:lnSpc>
                <a:spcPct val="100000"/>
              </a:lnSpc>
            </a:pPr>
            <a:r>
              <a:rPr lang="en-US" sz="2800">
                <a:solidFill>
                  <a:schemeClr val="bg1">
                    <a:lumMod val="50000"/>
                  </a:schemeClr>
                </a:solidFill>
              </a:rPr>
              <a:t>    move</a:t>
            </a:r>
            <a:endParaRPr lang="en-US" sz="2800"/>
          </a:p>
          <a:p>
            <a:pPr>
              <a:lnSpc>
                <a:spcPct val="100000"/>
              </a:lnSpc>
            </a:pPr>
            <a:r>
              <a:rPr lang="en-US" sz="2800">
                <a:solidFill>
                  <a:srgbClr val="FF6600"/>
                </a:solidFill>
                <a:sym typeface="+mn-ea"/>
              </a:rPr>
              <a:t>For each</a:t>
            </a:r>
            <a:r>
              <a:rPr lang="en-US" sz="2800"/>
              <a:t> Render Component</a:t>
            </a:r>
            <a:r>
              <a:rPr lang="pt-PT" altLang="en-US" sz="2800"/>
              <a:t> </a:t>
            </a:r>
            <a:r>
              <a:rPr lang="en-US" sz="2800">
                <a:solidFill>
                  <a:schemeClr val="bg1">
                    <a:lumMod val="50000"/>
                  </a:schemeClr>
                </a:solidFill>
                <a:sym typeface="+mn-ea"/>
              </a:rPr>
              <a:t>// render system</a:t>
            </a:r>
            <a:endParaRPr lang="en-US" sz="2800">
              <a:solidFill>
                <a:schemeClr val="bg1">
                  <a:lumMod val="50000"/>
                </a:schemeClr>
              </a:solidFill>
            </a:endParaRPr>
          </a:p>
          <a:p>
            <a:pPr>
              <a:lnSpc>
                <a:spcPct val="100000"/>
              </a:lnSpc>
            </a:pPr>
            <a:r>
              <a:rPr lang="en-US" sz="2800">
                <a:solidFill>
                  <a:schemeClr val="bg1">
                    <a:lumMod val="50000"/>
                  </a:schemeClr>
                </a:solidFill>
              </a:rPr>
              <a:t>    render</a:t>
            </a:r>
            <a:endParaRPr lang="en-US" sz="2800">
              <a:solidFill>
                <a:schemeClr val="bg1">
                  <a:lumMod val="50000"/>
                </a:schemeClr>
              </a:solidFill>
            </a:endParaRPr>
          </a:p>
        </p:txBody>
      </p:sp>
      <p:cxnSp>
        <p:nvCxnSpPr>
          <p:cNvPr id="8" name="Straight Arrow Connector 7"/>
          <p:cNvCxnSpPr/>
          <p:nvPr/>
        </p:nvCxnSpPr>
        <p:spPr>
          <a:xfrm>
            <a:off x="5718175" y="5124450"/>
            <a:ext cx="4838700" cy="20955"/>
          </a:xfrm>
          <a:prstGeom prst="straightConnector1">
            <a:avLst/>
          </a:prstGeom>
          <a:gradFill rotWithShape="0">
            <a:gsLst>
              <a:gs pos="0">
                <a:schemeClr val="accent1"/>
              </a:gs>
              <a:gs pos="100000">
                <a:schemeClr val="accent2"/>
              </a:gs>
            </a:gsLst>
            <a:lin ang="5400000" scaled="1"/>
          </a:gradFill>
          <a:ln w="79375" cap="flat" cmpd="sng" algn="ctr">
            <a:solidFill>
              <a:schemeClr val="accent1"/>
            </a:solidFill>
            <a:prstDash val="solid"/>
            <a:round/>
            <a:headEnd type="none" w="med" len="med"/>
            <a:tailEnd type="arrow" w="med" len="med"/>
          </a:ln>
        </p:spPr>
      </p:cxnSp>
      <p:cxnSp>
        <p:nvCxnSpPr>
          <p:cNvPr id="9" name="Straight Arrow Connector 8"/>
          <p:cNvCxnSpPr/>
          <p:nvPr/>
        </p:nvCxnSpPr>
        <p:spPr>
          <a:xfrm>
            <a:off x="5718175" y="4156075"/>
            <a:ext cx="4838700" cy="20955"/>
          </a:xfrm>
          <a:prstGeom prst="straightConnector1">
            <a:avLst/>
          </a:prstGeom>
          <a:gradFill rotWithShape="0">
            <a:gsLst>
              <a:gs pos="0">
                <a:schemeClr val="accent1"/>
              </a:gs>
              <a:gs pos="100000">
                <a:schemeClr val="accent2"/>
              </a:gs>
            </a:gsLst>
            <a:lin ang="5400000" scaled="1"/>
          </a:gradFill>
          <a:ln w="79375" cap="flat" cmpd="sng" algn="ctr">
            <a:solidFill>
              <a:schemeClr val="accent1"/>
            </a:solidFill>
            <a:prstDash val="solid"/>
            <a:round/>
            <a:headEnd type="none" w="med" len="med"/>
            <a:tailEnd type="arrow" w="med" len="med"/>
          </a:ln>
        </p:spPr>
      </p:cxnSp>
      <p:cxnSp>
        <p:nvCxnSpPr>
          <p:cNvPr id="10" name="Straight Arrow Connector 9"/>
          <p:cNvCxnSpPr/>
          <p:nvPr/>
        </p:nvCxnSpPr>
        <p:spPr>
          <a:xfrm>
            <a:off x="5851525" y="3187700"/>
            <a:ext cx="4838700" cy="20955"/>
          </a:xfrm>
          <a:prstGeom prst="straightConnector1">
            <a:avLst/>
          </a:prstGeom>
          <a:gradFill rotWithShape="0">
            <a:gsLst>
              <a:gs pos="0">
                <a:schemeClr val="accent1"/>
              </a:gs>
              <a:gs pos="100000">
                <a:schemeClr val="accent2"/>
              </a:gs>
            </a:gsLst>
            <a:lin ang="5400000" scaled="1"/>
          </a:gradFill>
          <a:ln w="79375" cap="flat" cmpd="sng" algn="ctr">
            <a:solidFill>
              <a:schemeClr val="accent1"/>
            </a:solidFill>
            <a:prstDash val="solid"/>
            <a:round/>
            <a:headEnd type="none" w="med" len="med"/>
            <a:tailEnd type="arrow" w="med" len="med"/>
          </a:ln>
        </p:spPr>
      </p:cxnSp>
      <p:cxnSp>
        <p:nvCxnSpPr>
          <p:cNvPr id="11" name="Straight Arrow Connector 10"/>
          <p:cNvCxnSpPr/>
          <p:nvPr/>
        </p:nvCxnSpPr>
        <p:spPr>
          <a:xfrm>
            <a:off x="5718175" y="2219325"/>
            <a:ext cx="4838700" cy="20955"/>
          </a:xfrm>
          <a:prstGeom prst="straightConnector1">
            <a:avLst/>
          </a:prstGeom>
          <a:gradFill rotWithShape="0">
            <a:gsLst>
              <a:gs pos="0">
                <a:schemeClr val="accent1"/>
              </a:gs>
              <a:gs pos="100000">
                <a:schemeClr val="accent2"/>
              </a:gs>
            </a:gsLst>
            <a:lin ang="5400000" scaled="1"/>
          </a:gradFill>
          <a:ln w="79375" cap="flat" cmpd="sng" algn="ctr">
            <a:solidFill>
              <a:schemeClr val="accent1"/>
            </a:solidFill>
            <a:prstDash val="solid"/>
            <a:round/>
            <a:headEnd type="none" w="med" len="med"/>
            <a:tailEnd type="arrow" w="med" len="med"/>
          </a:ln>
        </p:spPr>
      </p:cxnSp>
      <p:cxnSp>
        <p:nvCxnSpPr>
          <p:cNvPr id="12" name="Straight Arrow Connector 11"/>
          <p:cNvCxnSpPr/>
          <p:nvPr/>
        </p:nvCxnSpPr>
        <p:spPr>
          <a:xfrm flipH="1">
            <a:off x="6956425" y="2437765"/>
            <a:ext cx="2628900" cy="552450"/>
          </a:xfrm>
          <a:prstGeom prst="straightConnector1">
            <a:avLst/>
          </a:prstGeom>
          <a:gradFill rotWithShape="0">
            <a:gsLst>
              <a:gs pos="0">
                <a:schemeClr val="accent1"/>
              </a:gs>
              <a:gs pos="100000">
                <a:schemeClr val="accent2"/>
              </a:gs>
            </a:gsLst>
            <a:lin ang="5400000" scaled="1"/>
          </a:gradFill>
          <a:ln w="50800" cap="flat" cmpd="sng" algn="ctr">
            <a:solidFill>
              <a:schemeClr val="accent1"/>
            </a:solidFill>
            <a:prstDash val="solid"/>
            <a:round/>
            <a:headEnd type="none" w="med" len="med"/>
            <a:tailEnd type="arrow" w="med" len="med"/>
          </a:ln>
        </p:spPr>
      </p:cxnSp>
      <p:cxnSp>
        <p:nvCxnSpPr>
          <p:cNvPr id="13" name="Straight Arrow Connector 12"/>
          <p:cNvCxnSpPr/>
          <p:nvPr/>
        </p:nvCxnSpPr>
        <p:spPr>
          <a:xfrm flipH="1">
            <a:off x="6956425" y="3406140"/>
            <a:ext cx="2628900" cy="552450"/>
          </a:xfrm>
          <a:prstGeom prst="straightConnector1">
            <a:avLst/>
          </a:prstGeom>
          <a:gradFill rotWithShape="0">
            <a:gsLst>
              <a:gs pos="0">
                <a:schemeClr val="accent1"/>
              </a:gs>
              <a:gs pos="100000">
                <a:schemeClr val="accent2"/>
              </a:gs>
            </a:gsLst>
            <a:lin ang="5400000" scaled="1"/>
          </a:gradFill>
          <a:ln w="50800" cap="flat" cmpd="sng" algn="ctr">
            <a:solidFill>
              <a:schemeClr val="accent1"/>
            </a:solidFill>
            <a:prstDash val="solid"/>
            <a:round/>
            <a:headEnd type="none" w="med" len="med"/>
            <a:tailEnd type="arrow" w="med" len="med"/>
          </a:ln>
        </p:spPr>
      </p:cxnSp>
      <p:cxnSp>
        <p:nvCxnSpPr>
          <p:cNvPr id="14" name="Straight Arrow Connector 13"/>
          <p:cNvCxnSpPr/>
          <p:nvPr/>
        </p:nvCxnSpPr>
        <p:spPr>
          <a:xfrm flipH="1">
            <a:off x="6956425" y="4265295"/>
            <a:ext cx="2628900" cy="552450"/>
          </a:xfrm>
          <a:prstGeom prst="straightConnector1">
            <a:avLst/>
          </a:prstGeom>
          <a:gradFill rotWithShape="0">
            <a:gsLst>
              <a:gs pos="0">
                <a:schemeClr val="accent1"/>
              </a:gs>
              <a:gs pos="100000">
                <a:schemeClr val="accent2"/>
              </a:gs>
            </a:gsLst>
            <a:lin ang="5400000" scaled="1"/>
          </a:gradFill>
          <a:ln w="50800" cap="flat" cmpd="sng" algn="ctr">
            <a:solidFill>
              <a:schemeClr val="accent1"/>
            </a:solidFill>
            <a:prstDash val="solid"/>
            <a:round/>
            <a:headEnd type="none" w="med" len="med"/>
            <a:tailEnd type="arrow" w="med" len="med"/>
          </a:ln>
        </p:spPr>
      </p:cxnSp>
      <p:sp>
        <p:nvSpPr>
          <p:cNvPr id="4" name="Text Box 3"/>
          <p:cNvSpPr txBox="1"/>
          <p:nvPr/>
        </p:nvSpPr>
        <p:spPr>
          <a:xfrm>
            <a:off x="11383645" y="304165"/>
            <a:ext cx="492125" cy="368300"/>
          </a:xfrm>
          <a:prstGeom prst="rect">
            <a:avLst/>
          </a:prstGeom>
          <a:noFill/>
        </p:spPr>
        <p:txBody>
          <a:bodyPr wrap="square" rtlCol="0">
            <a:spAutoFit/>
          </a:bodyPr>
          <a:p>
            <a:r>
              <a:rPr lang="pt-PT" altLang="en-US"/>
              <a:t>20</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3000">
        <p:wipe dir="d"/>
      </p:transition>
    </mc:Choice>
    <mc:Fallback>
      <p:transition spd="slow">
        <p:wipe dir="d"/>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449580" y="30416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Explaining the ECS method: System</a:t>
            </a:r>
            <a:endParaRPr lang="pt-PT" altLang="en-US" sz="4000">
              <a:solidFill>
                <a:schemeClr val="tx1"/>
              </a:solidFill>
              <a:effectLst>
                <a:outerShdw blurRad="38100" dist="19050" dir="2700000" algn="tl" rotWithShape="0">
                  <a:schemeClr val="dk1">
                    <a:alpha val="40000"/>
                  </a:schemeClr>
                </a:outerShdw>
              </a:effectLst>
            </a:endParaRPr>
          </a:p>
        </p:txBody>
      </p:sp>
      <p:pic>
        <p:nvPicPr>
          <p:cNvPr id="3" name="Picture 2" descr="Movement_System"/>
          <p:cNvPicPr>
            <a:picLocks noChangeAspect="1"/>
          </p:cNvPicPr>
          <p:nvPr/>
        </p:nvPicPr>
        <p:blipFill>
          <a:blip r:embed="rId1"/>
          <a:stretch>
            <a:fillRect/>
          </a:stretch>
        </p:blipFill>
        <p:spPr>
          <a:xfrm>
            <a:off x="0" y="2076450"/>
            <a:ext cx="12208510" cy="4781550"/>
          </a:xfrm>
          <a:prstGeom prst="rect">
            <a:avLst/>
          </a:prstGeom>
        </p:spPr>
      </p:pic>
      <p:sp>
        <p:nvSpPr>
          <p:cNvPr id="4" name="Text Box 3"/>
          <p:cNvSpPr txBox="1"/>
          <p:nvPr/>
        </p:nvSpPr>
        <p:spPr>
          <a:xfrm>
            <a:off x="11383645" y="304165"/>
            <a:ext cx="492125" cy="368300"/>
          </a:xfrm>
          <a:prstGeom prst="rect">
            <a:avLst/>
          </a:prstGeom>
          <a:noFill/>
        </p:spPr>
        <p:txBody>
          <a:bodyPr wrap="square" rtlCol="0">
            <a:spAutoFit/>
          </a:bodyPr>
          <a:p>
            <a:r>
              <a:rPr lang="pt-PT" altLang="en-US"/>
              <a:t>21</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3000">
        <p:wipe dir="d"/>
      </p:transition>
    </mc:Choice>
    <mc:Fallback>
      <p:transition spd="slow">
        <p:wipe dir="d"/>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253365" y="706120"/>
            <a:ext cx="11685905" cy="5015865"/>
          </a:xfrm>
          <a:prstGeom prst="rect">
            <a:avLst/>
          </a:prstGeom>
          <a:noFill/>
        </p:spPr>
        <p:txBody>
          <a:bodyPr wrap="square" rtlCol="0" anchor="t">
            <a:spAutoFit/>
          </a:bodyPr>
          <a:p>
            <a:r>
              <a:rPr lang="pt-PT" sz="3200"/>
              <a:t>The c</a:t>
            </a:r>
            <a:r>
              <a:rPr sz="3200"/>
              <a:t>ode inside each loop is generally very specific, because its purpose is to update a very broad range of objects with a well-defined task</a:t>
            </a:r>
            <a:r>
              <a:rPr lang="pt-PT" sz="3200"/>
              <a:t>:</a:t>
            </a:r>
            <a:endParaRPr sz="3200"/>
          </a:p>
          <a:p>
            <a:pPr marL="457200" indent="-457200">
              <a:buFont typeface="Arial" panose="020B0604020202020204" pitchFamily="34" charset="0"/>
              <a:buChar char="•"/>
            </a:pPr>
            <a:r>
              <a:rPr sz="3200"/>
              <a:t>A Physics System </a:t>
            </a:r>
            <a:r>
              <a:rPr sz="3200" b="1"/>
              <a:t>updates velocities</a:t>
            </a:r>
            <a:r>
              <a:rPr sz="3200"/>
              <a:t> based on </a:t>
            </a:r>
            <a:r>
              <a:rPr sz="3200" b="1"/>
              <a:t>gravity </a:t>
            </a:r>
            <a:r>
              <a:rPr sz="3200"/>
              <a:t>and other </a:t>
            </a:r>
            <a:r>
              <a:rPr sz="3200" b="1"/>
              <a:t>accelerations</a:t>
            </a:r>
            <a:r>
              <a:rPr sz="3200"/>
              <a:t>.</a:t>
            </a:r>
            <a:endParaRPr sz="3200"/>
          </a:p>
          <a:p>
            <a:pPr marL="457200" indent="-457200">
              <a:buFont typeface="Arial" panose="020B0604020202020204" pitchFamily="34" charset="0"/>
              <a:buChar char="•"/>
            </a:pPr>
            <a:r>
              <a:rPr sz="3200"/>
              <a:t>A Movement System </a:t>
            </a:r>
            <a:r>
              <a:rPr sz="3200" b="1"/>
              <a:t>updates positions</a:t>
            </a:r>
            <a:r>
              <a:rPr sz="3200"/>
              <a:t> based on </a:t>
            </a:r>
            <a:r>
              <a:rPr sz="3200" b="1"/>
              <a:t>velocities</a:t>
            </a:r>
            <a:r>
              <a:rPr sz="3200"/>
              <a:t>.</a:t>
            </a:r>
            <a:endParaRPr sz="3200"/>
          </a:p>
          <a:p>
            <a:pPr marL="457200" indent="-457200">
              <a:buFont typeface="Arial" panose="020B0604020202020204" pitchFamily="34" charset="0"/>
              <a:buChar char="•"/>
            </a:pPr>
            <a:r>
              <a:rPr sz="3200"/>
              <a:t>A Render System handles </a:t>
            </a:r>
            <a:r>
              <a:rPr sz="3200" b="1"/>
              <a:t>filling </a:t>
            </a:r>
            <a:r>
              <a:rPr sz="3200"/>
              <a:t>the batch rendering </a:t>
            </a:r>
            <a:r>
              <a:rPr sz="3200" b="1"/>
              <a:t>buffer</a:t>
            </a:r>
            <a:endParaRPr sz="3200"/>
          </a:p>
          <a:p>
            <a:pPr marL="457200" indent="-457200">
              <a:buFont typeface="Arial" panose="020B0604020202020204" pitchFamily="34" charset="0"/>
              <a:buChar char="•"/>
            </a:pPr>
            <a:r>
              <a:rPr sz="3200"/>
              <a:t>A Collision System </a:t>
            </a:r>
            <a:r>
              <a:rPr sz="3200" b="1"/>
              <a:t>calculates </a:t>
            </a:r>
            <a:r>
              <a:rPr sz="3200"/>
              <a:t>the </a:t>
            </a:r>
            <a:r>
              <a:rPr sz="3200" b="1"/>
              <a:t>intersection </a:t>
            </a:r>
            <a:r>
              <a:rPr sz="3200"/>
              <a:t>between collision boxes</a:t>
            </a:r>
            <a:endParaRPr sz="3200"/>
          </a:p>
        </p:txBody>
      </p:sp>
      <p:sp>
        <p:nvSpPr>
          <p:cNvPr id="4" name="Text Box 3"/>
          <p:cNvSpPr txBox="1"/>
          <p:nvPr/>
        </p:nvSpPr>
        <p:spPr>
          <a:xfrm>
            <a:off x="11383645" y="304165"/>
            <a:ext cx="492125" cy="368300"/>
          </a:xfrm>
          <a:prstGeom prst="rect">
            <a:avLst/>
          </a:prstGeom>
          <a:noFill/>
        </p:spPr>
        <p:txBody>
          <a:bodyPr wrap="square" rtlCol="0">
            <a:spAutoFit/>
          </a:bodyPr>
          <a:p>
            <a:r>
              <a:rPr lang="pt-PT" altLang="en-US"/>
              <a:t>22</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3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452755" y="28511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Scripting: Using the ECS</a:t>
            </a:r>
            <a:endParaRPr lang="pt-PT" altLang="en-US" sz="4000">
              <a:solidFill>
                <a:schemeClr val="tx1"/>
              </a:solidFill>
              <a:effectLst>
                <a:outerShdw blurRad="38100" dist="19050" dir="2700000" algn="tl" rotWithShape="0">
                  <a:schemeClr val="dk1">
                    <a:alpha val="40000"/>
                  </a:schemeClr>
                </a:outerShdw>
              </a:effectLst>
            </a:endParaRPr>
          </a:p>
        </p:txBody>
      </p:sp>
      <p:sp>
        <p:nvSpPr>
          <p:cNvPr id="2" name="Text Box 1"/>
          <p:cNvSpPr txBox="1"/>
          <p:nvPr/>
        </p:nvSpPr>
        <p:spPr>
          <a:xfrm>
            <a:off x="452120" y="1534160"/>
            <a:ext cx="11287125" cy="4523105"/>
          </a:xfrm>
          <a:prstGeom prst="rect">
            <a:avLst/>
          </a:prstGeom>
          <a:noFill/>
        </p:spPr>
        <p:txBody>
          <a:bodyPr wrap="square" rtlCol="0">
            <a:spAutoFit/>
          </a:bodyPr>
          <a:p>
            <a:r>
              <a:rPr lang="pt-PT" altLang="en-US" sz="3200"/>
              <a:t>After reviewing the ECS, anyone would be thinking on how hard it would be to replace the direct approach. After all, you must abstract based on behaviors of all entities, not based on individual objects. </a:t>
            </a:r>
            <a:endParaRPr lang="pt-PT" altLang="en-US" sz="3200"/>
          </a:p>
          <a:p>
            <a:endParaRPr lang="pt-PT" altLang="en-US" sz="3200"/>
          </a:p>
          <a:p>
            <a:r>
              <a:rPr lang="pt-PT" altLang="en-US" sz="3200"/>
              <a:t>For this comes scripting. For parts of the code that aren't critical, use a slower and easier approach that abstracts many specifications of your engine. That way, game/mod developers can quickly script what they want. </a:t>
            </a:r>
            <a:endParaRPr lang="pt-PT" altLang="en-US" sz="3200"/>
          </a:p>
        </p:txBody>
      </p:sp>
      <p:sp>
        <p:nvSpPr>
          <p:cNvPr id="4" name="Text Box 3"/>
          <p:cNvSpPr txBox="1"/>
          <p:nvPr/>
        </p:nvSpPr>
        <p:spPr>
          <a:xfrm>
            <a:off x="11383645" y="304165"/>
            <a:ext cx="492125" cy="368300"/>
          </a:xfrm>
          <a:prstGeom prst="rect">
            <a:avLst/>
          </a:prstGeom>
          <a:noFill/>
        </p:spPr>
        <p:txBody>
          <a:bodyPr wrap="square" rtlCol="0">
            <a:spAutoFit/>
          </a:bodyPr>
          <a:p>
            <a:r>
              <a:rPr lang="pt-PT" altLang="en-US"/>
              <a:t>23</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3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452755" y="28511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Scripting: Using the ECS</a:t>
            </a:r>
            <a:endParaRPr lang="pt-PT" altLang="en-US" sz="4000">
              <a:solidFill>
                <a:schemeClr val="tx1"/>
              </a:solidFill>
              <a:effectLst>
                <a:outerShdw blurRad="38100" dist="19050" dir="2700000" algn="tl" rotWithShape="0">
                  <a:schemeClr val="dk1">
                    <a:alpha val="40000"/>
                  </a:schemeClr>
                </a:outerShdw>
              </a:effectLst>
            </a:endParaRPr>
          </a:p>
        </p:txBody>
      </p:sp>
      <p:sp>
        <p:nvSpPr>
          <p:cNvPr id="2" name="Text Box 1"/>
          <p:cNvSpPr txBox="1"/>
          <p:nvPr/>
        </p:nvSpPr>
        <p:spPr>
          <a:xfrm>
            <a:off x="452120" y="1534160"/>
            <a:ext cx="11287125" cy="2676525"/>
          </a:xfrm>
          <a:prstGeom prst="rect">
            <a:avLst/>
          </a:prstGeom>
          <a:noFill/>
        </p:spPr>
        <p:txBody>
          <a:bodyPr wrap="square" rtlCol="0">
            <a:spAutoFit/>
          </a:bodyPr>
          <a:p>
            <a:r>
              <a:rPr lang="pt-PT" altLang="en-US" sz="3200">
                <a:sym typeface="+mn-ea"/>
              </a:rPr>
              <a:t>This solution is often used together with a scripting language, which also abstract the C++ to a more simple and friendly language, such as Python, Lua, C#, JavaScript, etc.</a:t>
            </a:r>
            <a:endParaRPr lang="pt-PT" altLang="en-US" sz="3200"/>
          </a:p>
          <a:p>
            <a:endParaRPr lang="pt-PT" altLang="en-US" sz="3200"/>
          </a:p>
          <a:p>
            <a:r>
              <a:rPr lang="pt-PT" altLang="en-US" sz="3200"/>
              <a:t>I have chosen Python. However, how to make it </a:t>
            </a:r>
            <a:r>
              <a:rPr lang="pt-PT" altLang="en-US" sz="4000" b="1" i="1"/>
              <a:t>faster</a:t>
            </a:r>
            <a:r>
              <a:rPr lang="pt-PT" altLang="en-US" sz="3200"/>
              <a:t>?</a:t>
            </a:r>
            <a:endParaRPr lang="pt-PT" altLang="en-US" sz="3200"/>
          </a:p>
        </p:txBody>
      </p:sp>
      <p:sp>
        <p:nvSpPr>
          <p:cNvPr id="4" name="Text Box 3"/>
          <p:cNvSpPr txBox="1"/>
          <p:nvPr/>
        </p:nvSpPr>
        <p:spPr>
          <a:xfrm>
            <a:off x="11383645" y="304165"/>
            <a:ext cx="492125" cy="368300"/>
          </a:xfrm>
          <a:prstGeom prst="rect">
            <a:avLst/>
          </a:prstGeom>
          <a:noFill/>
        </p:spPr>
        <p:txBody>
          <a:bodyPr wrap="square" rtlCol="0">
            <a:spAutoFit/>
          </a:bodyPr>
          <a:p>
            <a:r>
              <a:rPr lang="pt-PT" altLang="en-US"/>
              <a:t>24</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3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452755" y="28511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Scripting: Making it faster with Cython</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52755" y="991870"/>
            <a:ext cx="6000750" cy="526224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400">
                <a:solidFill>
                  <a:srgbClr val="7030A0"/>
                </a:solidFill>
              </a:rPr>
              <a:t>import </a:t>
            </a:r>
            <a:r>
              <a:rPr lang="en-US" sz="2400"/>
              <a:t>cython </a:t>
            </a:r>
            <a:r>
              <a:rPr lang="en-US" sz="2400">
                <a:solidFill>
                  <a:srgbClr val="7030A0"/>
                </a:solidFill>
              </a:rPr>
              <a:t>as </a:t>
            </a:r>
            <a:r>
              <a:rPr lang="en-US" sz="2400"/>
              <a:t>c</a:t>
            </a:r>
            <a:endParaRPr lang="en-US" sz="2400"/>
          </a:p>
          <a:p>
            <a:pPr>
              <a:lnSpc>
                <a:spcPct val="100000"/>
              </a:lnSpc>
            </a:pPr>
            <a:endParaRPr lang="en-US" sz="2400"/>
          </a:p>
          <a:p>
            <a:pPr>
              <a:lnSpc>
                <a:spcPct val="100000"/>
              </a:lnSpc>
            </a:pPr>
            <a:r>
              <a:rPr lang="en-US" sz="2400"/>
              <a:t>@c.ccall</a:t>
            </a:r>
            <a:endParaRPr lang="en-US" sz="2400"/>
          </a:p>
          <a:p>
            <a:pPr>
              <a:lnSpc>
                <a:spcPct val="100000"/>
              </a:lnSpc>
            </a:pPr>
            <a:r>
              <a:rPr lang="en-US" sz="2400">
                <a:solidFill>
                  <a:srgbClr val="7030A0"/>
                </a:solidFill>
              </a:rPr>
              <a:t>def </a:t>
            </a:r>
            <a:r>
              <a:rPr lang="en-US" sz="2400">
                <a:solidFill>
                  <a:srgbClr val="FF0000"/>
                </a:solidFill>
              </a:rPr>
              <a:t>factorial</a:t>
            </a:r>
            <a:r>
              <a:rPr lang="en-US" sz="2400"/>
              <a:t>(</a:t>
            </a:r>
            <a:r>
              <a:rPr lang="en-US" sz="2400">
                <a:solidFill>
                  <a:srgbClr val="FF6600"/>
                </a:solidFill>
              </a:rPr>
              <a:t>x</a:t>
            </a:r>
            <a:r>
              <a:rPr lang="en-US" sz="2400"/>
              <a:t>: c.int) -&gt; c.int:</a:t>
            </a:r>
            <a:endParaRPr lang="en-US" sz="2400"/>
          </a:p>
          <a:p>
            <a:pPr>
              <a:lnSpc>
                <a:spcPct val="100000"/>
              </a:lnSpc>
            </a:pPr>
            <a:r>
              <a:rPr lang="en-US" sz="2400"/>
              <a:t>    f: c.int </a:t>
            </a:r>
            <a:r>
              <a:rPr lang="en-US" sz="2400">
                <a:solidFill>
                  <a:srgbClr val="7030A0"/>
                </a:solidFill>
              </a:rPr>
              <a:t>=</a:t>
            </a:r>
            <a:r>
              <a:rPr lang="en-US" sz="2400"/>
              <a:t> 1</a:t>
            </a:r>
            <a:endParaRPr lang="en-US" sz="2400"/>
          </a:p>
          <a:p>
            <a:pPr>
              <a:lnSpc>
                <a:spcPct val="100000"/>
              </a:lnSpc>
            </a:pPr>
            <a:r>
              <a:rPr lang="en-US" sz="2400"/>
              <a:t>    i: c.int</a:t>
            </a:r>
            <a:endParaRPr lang="en-US" sz="2400"/>
          </a:p>
          <a:p>
            <a:pPr>
              <a:lnSpc>
                <a:spcPct val="100000"/>
              </a:lnSpc>
            </a:pPr>
            <a:r>
              <a:rPr lang="en-US" sz="2400"/>
              <a:t>    </a:t>
            </a:r>
            <a:r>
              <a:rPr lang="en-US" sz="2400">
                <a:solidFill>
                  <a:srgbClr val="7030A0"/>
                </a:solidFill>
              </a:rPr>
              <a:t>for </a:t>
            </a:r>
            <a:r>
              <a:rPr lang="en-US" sz="2400"/>
              <a:t>i </a:t>
            </a:r>
            <a:r>
              <a:rPr lang="en-US" sz="2400">
                <a:solidFill>
                  <a:srgbClr val="7030A0"/>
                </a:solidFill>
              </a:rPr>
              <a:t>in </a:t>
            </a:r>
            <a:r>
              <a:rPr lang="en-US" sz="2400"/>
              <a:t>range(x):</a:t>
            </a:r>
            <a:endParaRPr lang="en-US" sz="2400"/>
          </a:p>
          <a:p>
            <a:pPr>
              <a:lnSpc>
                <a:spcPct val="100000"/>
              </a:lnSpc>
            </a:pPr>
            <a:r>
              <a:rPr lang="en-US" sz="2400"/>
              <a:t>        f </a:t>
            </a:r>
            <a:r>
              <a:rPr lang="en-US" sz="2400">
                <a:solidFill>
                  <a:srgbClr val="7030A0"/>
                </a:solidFill>
              </a:rPr>
              <a:t>*=</a:t>
            </a:r>
            <a:r>
              <a:rPr lang="en-US" sz="2400"/>
              <a:t> x</a:t>
            </a:r>
            <a:r>
              <a:rPr lang="en-US" sz="2400">
                <a:solidFill>
                  <a:srgbClr val="7030A0"/>
                </a:solidFill>
              </a:rPr>
              <a:t> -</a:t>
            </a:r>
            <a:r>
              <a:rPr lang="en-US" sz="2400"/>
              <a:t> i</a:t>
            </a:r>
            <a:endParaRPr lang="en-US" sz="2400"/>
          </a:p>
          <a:p>
            <a:pPr>
              <a:lnSpc>
                <a:spcPct val="100000"/>
              </a:lnSpc>
            </a:pPr>
            <a:r>
              <a:rPr lang="en-US" sz="2400"/>
              <a:t>    </a:t>
            </a:r>
            <a:r>
              <a:rPr lang="en-US" sz="2400">
                <a:solidFill>
                  <a:srgbClr val="7030A0"/>
                </a:solidFill>
              </a:rPr>
              <a:t>return </a:t>
            </a:r>
            <a:r>
              <a:rPr lang="en-US" sz="2400"/>
              <a:t>f</a:t>
            </a:r>
            <a:endParaRPr lang="en-US" sz="2400"/>
          </a:p>
          <a:p>
            <a:pPr>
              <a:lnSpc>
                <a:spcPct val="100000"/>
              </a:lnSpc>
            </a:pPr>
            <a:endParaRPr lang="en-US" sz="2400"/>
          </a:p>
          <a:p>
            <a:pPr>
              <a:lnSpc>
                <a:spcPct val="100000"/>
              </a:lnSpc>
            </a:pPr>
            <a:r>
              <a:rPr lang="en-US" sz="2400"/>
              <a:t>@c.ccall</a:t>
            </a:r>
            <a:endParaRPr lang="en-US" sz="2400"/>
          </a:p>
          <a:p>
            <a:pPr>
              <a:lnSpc>
                <a:spcPct val="100000"/>
              </a:lnSpc>
            </a:pPr>
            <a:r>
              <a:rPr lang="en-US" sz="2400">
                <a:solidFill>
                  <a:srgbClr val="7030A0"/>
                </a:solidFill>
                <a:sym typeface="+mn-ea"/>
              </a:rPr>
              <a:t>def </a:t>
            </a:r>
            <a:r>
              <a:rPr lang="en-US" sz="2400">
                <a:solidFill>
                  <a:srgbClr val="FF0000"/>
                </a:solidFill>
              </a:rPr>
              <a:t>testFactorial</a:t>
            </a:r>
            <a:r>
              <a:rPr lang="en-US" sz="2400"/>
              <a:t>(</a:t>
            </a:r>
            <a:r>
              <a:rPr lang="en-US" sz="2400">
                <a:solidFill>
                  <a:srgbClr val="FF6600"/>
                </a:solidFill>
              </a:rPr>
              <a:t>n</a:t>
            </a:r>
            <a:r>
              <a:rPr lang="en-US" sz="2400"/>
              <a:t>: c.int, </a:t>
            </a:r>
            <a:r>
              <a:rPr lang="en-US" sz="2400">
                <a:solidFill>
                  <a:srgbClr val="FF6600"/>
                </a:solidFill>
              </a:rPr>
              <a:t>x</a:t>
            </a:r>
            <a:r>
              <a:rPr lang="en-US" sz="2400"/>
              <a:t>: c.int) -&gt; c.void:</a:t>
            </a:r>
            <a:endParaRPr lang="en-US" sz="2400"/>
          </a:p>
          <a:p>
            <a:pPr>
              <a:lnSpc>
                <a:spcPct val="100000"/>
              </a:lnSpc>
            </a:pPr>
            <a:r>
              <a:rPr lang="en-US" sz="2400"/>
              <a:t>    </a:t>
            </a:r>
            <a:r>
              <a:rPr lang="en-US" sz="2400">
                <a:solidFill>
                  <a:srgbClr val="7030A0"/>
                </a:solidFill>
              </a:rPr>
              <a:t>for </a:t>
            </a:r>
            <a:r>
              <a:rPr lang="en-US" sz="2400"/>
              <a:t>_ </a:t>
            </a:r>
            <a:r>
              <a:rPr lang="en-US" sz="2400">
                <a:solidFill>
                  <a:srgbClr val="7030A0"/>
                </a:solidFill>
              </a:rPr>
              <a:t>in </a:t>
            </a:r>
            <a:r>
              <a:rPr lang="en-US" sz="2400"/>
              <a:t>range(n):</a:t>
            </a:r>
            <a:endParaRPr lang="en-US" sz="2400"/>
          </a:p>
          <a:p>
            <a:pPr>
              <a:lnSpc>
                <a:spcPct val="100000"/>
              </a:lnSpc>
            </a:pPr>
            <a:r>
              <a:rPr lang="en-US" sz="2400"/>
              <a:t>        factorial(x)</a:t>
            </a:r>
            <a:endParaRPr lang="en-US" sz="2400"/>
          </a:p>
        </p:txBody>
      </p:sp>
      <p:sp>
        <p:nvSpPr>
          <p:cNvPr id="4" name="Text Box 3"/>
          <p:cNvSpPr txBox="1"/>
          <p:nvPr/>
        </p:nvSpPr>
        <p:spPr>
          <a:xfrm>
            <a:off x="7134225" y="1228725"/>
            <a:ext cx="3981450" cy="3046095"/>
          </a:xfrm>
          <a:prstGeom prst="rect">
            <a:avLst/>
          </a:prstGeom>
          <a:noFill/>
        </p:spPr>
        <p:txBody>
          <a:bodyPr wrap="square" rtlCol="0">
            <a:spAutoFit/>
          </a:bodyPr>
          <a:p>
            <a:r>
              <a:rPr lang="pt-PT" altLang="en-US" sz="3200">
                <a:sym typeface="+mn-ea"/>
              </a:rPr>
              <a:t>Tempos:</a:t>
            </a:r>
            <a:endParaRPr lang="pt-PT" altLang="en-US" sz="3200"/>
          </a:p>
          <a:p>
            <a:pPr marL="457200" indent="-457200">
              <a:buFont typeface="Arial" panose="020B0604020202020204" pitchFamily="34" charset="0"/>
              <a:buChar char="•"/>
            </a:pPr>
            <a:r>
              <a:rPr lang="pt-PT" altLang="en-US" sz="3200">
                <a:sym typeface="+mn-ea"/>
              </a:rPr>
              <a:t>g++ -O0: x.xxxs</a:t>
            </a:r>
            <a:endParaRPr lang="pt-PT" altLang="en-US" sz="3200"/>
          </a:p>
          <a:p>
            <a:pPr marL="457200" indent="-457200">
              <a:buFont typeface="Arial" panose="020B0604020202020204" pitchFamily="34" charset="0"/>
              <a:buChar char="•"/>
            </a:pPr>
            <a:endParaRPr lang="pt-PT" altLang="en-US" sz="3200"/>
          </a:p>
          <a:p>
            <a:pPr marL="457200" indent="-457200">
              <a:buFont typeface="Arial" panose="020B0604020202020204" pitchFamily="34" charset="0"/>
              <a:buChar char="•"/>
            </a:pPr>
            <a:r>
              <a:rPr lang="pt-PT" altLang="en-US" sz="3200">
                <a:sym typeface="+mn-ea"/>
              </a:rPr>
              <a:t>python: </a:t>
            </a:r>
            <a:r>
              <a:rPr lang="pt-PT" altLang="en-US" sz="3200">
                <a:sym typeface="+mn-ea"/>
              </a:rPr>
              <a:t>x</a:t>
            </a:r>
            <a:r>
              <a:rPr lang="pt-PT" altLang="en-US" sz="3200">
                <a:sym typeface="+mn-ea"/>
              </a:rPr>
              <a:t>.xxxs</a:t>
            </a:r>
            <a:endParaRPr lang="pt-PT" altLang="en-US" sz="3200">
              <a:sym typeface="+mn-ea"/>
            </a:endParaRPr>
          </a:p>
          <a:p>
            <a:pPr marL="457200" indent="-457200">
              <a:buFont typeface="Arial" panose="020B0604020202020204" pitchFamily="34" charset="0"/>
              <a:buChar char="•"/>
            </a:pPr>
            <a:endParaRPr lang="pt-PT" altLang="en-US" sz="3200">
              <a:sym typeface="+mn-ea"/>
            </a:endParaRPr>
          </a:p>
          <a:p>
            <a:pPr marL="457200" indent="-457200">
              <a:buFont typeface="Arial" panose="020B0604020202020204" pitchFamily="34" charset="0"/>
              <a:buChar char="•"/>
            </a:pPr>
            <a:r>
              <a:rPr lang="pt-PT" altLang="en-US" sz="3200">
                <a:sym typeface="+mn-ea"/>
              </a:rPr>
              <a:t>cpython: </a:t>
            </a:r>
            <a:r>
              <a:rPr lang="pt-PT" altLang="en-US" sz="3200">
                <a:sym typeface="+mn-ea"/>
              </a:rPr>
              <a:t>x</a:t>
            </a:r>
            <a:r>
              <a:rPr lang="pt-PT" altLang="en-US" sz="3200">
                <a:sym typeface="+mn-ea"/>
              </a:rPr>
              <a:t>.xxxs</a:t>
            </a:r>
            <a:endParaRPr lang="pt-PT" altLang="en-US" sz="3200">
              <a:sym typeface="+mn-ea"/>
            </a:endParaRPr>
          </a:p>
        </p:txBody>
      </p:sp>
      <p:sp>
        <p:nvSpPr>
          <p:cNvPr id="2" name="Text Box 1"/>
          <p:cNvSpPr txBox="1"/>
          <p:nvPr/>
        </p:nvSpPr>
        <p:spPr>
          <a:xfrm>
            <a:off x="11383645" y="304165"/>
            <a:ext cx="492125" cy="368300"/>
          </a:xfrm>
          <a:prstGeom prst="rect">
            <a:avLst/>
          </a:prstGeom>
          <a:noFill/>
        </p:spPr>
        <p:txBody>
          <a:bodyPr wrap="square" rtlCol="0">
            <a:spAutoFit/>
          </a:bodyPr>
          <a:p>
            <a:r>
              <a:rPr lang="pt-PT" altLang="en-US"/>
              <a:t>25</a:t>
            </a:r>
            <a:endParaRPr lang="pt-PT" altLang="en-US"/>
          </a:p>
        </p:txBody>
      </p:sp>
    </p:spTree>
  </p:cSld>
  <p:clrMapOvr>
    <a:masterClrMapping/>
  </p:clrMapOvr>
  <mc:AlternateContent xmlns:mc="http://schemas.openxmlformats.org/markup-compatibility/2006">
    <mc:Choice xmlns:p14="http://schemas.microsoft.com/office/powerpoint/2010/main" Requires="p14">
      <p:transition spd="slow" p14:dur="30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452755" y="28511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Scripting: Making it faster with Cython</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52755" y="991870"/>
            <a:ext cx="6000750" cy="526224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400">
                <a:solidFill>
                  <a:srgbClr val="7030A0"/>
                </a:solidFill>
              </a:rPr>
              <a:t>import </a:t>
            </a:r>
            <a:r>
              <a:rPr lang="en-US" sz="2400"/>
              <a:t>cython </a:t>
            </a:r>
            <a:r>
              <a:rPr lang="en-US" sz="2400">
                <a:solidFill>
                  <a:srgbClr val="7030A0"/>
                </a:solidFill>
              </a:rPr>
              <a:t>as </a:t>
            </a:r>
            <a:r>
              <a:rPr lang="en-US" sz="2400"/>
              <a:t>c</a:t>
            </a:r>
            <a:endParaRPr lang="en-US" sz="2400"/>
          </a:p>
          <a:p>
            <a:pPr>
              <a:lnSpc>
                <a:spcPct val="100000"/>
              </a:lnSpc>
            </a:pPr>
            <a:endParaRPr lang="en-US" sz="2400"/>
          </a:p>
          <a:p>
            <a:pPr>
              <a:lnSpc>
                <a:spcPct val="100000"/>
              </a:lnSpc>
            </a:pPr>
            <a:r>
              <a:rPr lang="en-US" sz="2400"/>
              <a:t>@c.ccall</a:t>
            </a:r>
            <a:endParaRPr lang="en-US" sz="2400"/>
          </a:p>
          <a:p>
            <a:pPr>
              <a:lnSpc>
                <a:spcPct val="100000"/>
              </a:lnSpc>
            </a:pPr>
            <a:r>
              <a:rPr lang="en-US" sz="2400">
                <a:solidFill>
                  <a:srgbClr val="7030A0"/>
                </a:solidFill>
              </a:rPr>
              <a:t>def </a:t>
            </a:r>
            <a:r>
              <a:rPr lang="en-US" sz="2400">
                <a:solidFill>
                  <a:srgbClr val="FF0000"/>
                </a:solidFill>
              </a:rPr>
              <a:t>factorial</a:t>
            </a:r>
            <a:r>
              <a:rPr lang="en-US" sz="2400"/>
              <a:t>(</a:t>
            </a:r>
            <a:r>
              <a:rPr lang="en-US" sz="2400">
                <a:solidFill>
                  <a:srgbClr val="FF6600"/>
                </a:solidFill>
              </a:rPr>
              <a:t>x</a:t>
            </a:r>
            <a:r>
              <a:rPr lang="en-US" sz="2400"/>
              <a:t>: c.int) -&gt; c.int:</a:t>
            </a:r>
            <a:endParaRPr lang="en-US" sz="2400"/>
          </a:p>
          <a:p>
            <a:pPr>
              <a:lnSpc>
                <a:spcPct val="100000"/>
              </a:lnSpc>
            </a:pPr>
            <a:r>
              <a:rPr lang="en-US" sz="2400"/>
              <a:t>    f: c.int </a:t>
            </a:r>
            <a:r>
              <a:rPr lang="en-US" sz="2400">
                <a:solidFill>
                  <a:srgbClr val="7030A0"/>
                </a:solidFill>
              </a:rPr>
              <a:t>=</a:t>
            </a:r>
            <a:r>
              <a:rPr lang="en-US" sz="2400"/>
              <a:t> 1</a:t>
            </a:r>
            <a:endParaRPr lang="en-US" sz="2400"/>
          </a:p>
          <a:p>
            <a:pPr>
              <a:lnSpc>
                <a:spcPct val="100000"/>
              </a:lnSpc>
            </a:pPr>
            <a:r>
              <a:rPr lang="en-US" sz="2400"/>
              <a:t>    i: c.int</a:t>
            </a:r>
            <a:endParaRPr lang="en-US" sz="2400"/>
          </a:p>
          <a:p>
            <a:pPr>
              <a:lnSpc>
                <a:spcPct val="100000"/>
              </a:lnSpc>
            </a:pPr>
            <a:r>
              <a:rPr lang="en-US" sz="2400"/>
              <a:t>    </a:t>
            </a:r>
            <a:r>
              <a:rPr lang="en-US" sz="2400">
                <a:solidFill>
                  <a:srgbClr val="7030A0"/>
                </a:solidFill>
              </a:rPr>
              <a:t>for </a:t>
            </a:r>
            <a:r>
              <a:rPr lang="en-US" sz="2400"/>
              <a:t>i </a:t>
            </a:r>
            <a:r>
              <a:rPr lang="en-US" sz="2400">
                <a:solidFill>
                  <a:srgbClr val="7030A0"/>
                </a:solidFill>
              </a:rPr>
              <a:t>in </a:t>
            </a:r>
            <a:r>
              <a:rPr lang="en-US" sz="2400"/>
              <a:t>range(x):</a:t>
            </a:r>
            <a:endParaRPr lang="en-US" sz="2400"/>
          </a:p>
          <a:p>
            <a:pPr>
              <a:lnSpc>
                <a:spcPct val="100000"/>
              </a:lnSpc>
            </a:pPr>
            <a:r>
              <a:rPr lang="en-US" sz="2400"/>
              <a:t>        f </a:t>
            </a:r>
            <a:r>
              <a:rPr lang="en-US" sz="2400">
                <a:solidFill>
                  <a:srgbClr val="7030A0"/>
                </a:solidFill>
              </a:rPr>
              <a:t>*=</a:t>
            </a:r>
            <a:r>
              <a:rPr lang="en-US" sz="2400"/>
              <a:t> x</a:t>
            </a:r>
            <a:r>
              <a:rPr lang="en-US" sz="2400">
                <a:solidFill>
                  <a:srgbClr val="7030A0"/>
                </a:solidFill>
              </a:rPr>
              <a:t> -</a:t>
            </a:r>
            <a:r>
              <a:rPr lang="en-US" sz="2400"/>
              <a:t> i</a:t>
            </a:r>
            <a:endParaRPr lang="en-US" sz="2400"/>
          </a:p>
          <a:p>
            <a:pPr>
              <a:lnSpc>
                <a:spcPct val="100000"/>
              </a:lnSpc>
            </a:pPr>
            <a:r>
              <a:rPr lang="en-US" sz="2400"/>
              <a:t>    </a:t>
            </a:r>
            <a:r>
              <a:rPr lang="en-US" sz="2400">
                <a:solidFill>
                  <a:srgbClr val="7030A0"/>
                </a:solidFill>
              </a:rPr>
              <a:t>return </a:t>
            </a:r>
            <a:r>
              <a:rPr lang="en-US" sz="2400"/>
              <a:t>f</a:t>
            </a:r>
            <a:endParaRPr lang="en-US" sz="2400"/>
          </a:p>
          <a:p>
            <a:pPr>
              <a:lnSpc>
                <a:spcPct val="100000"/>
              </a:lnSpc>
            </a:pPr>
            <a:endParaRPr lang="en-US" sz="2400"/>
          </a:p>
          <a:p>
            <a:pPr>
              <a:lnSpc>
                <a:spcPct val="100000"/>
              </a:lnSpc>
            </a:pPr>
            <a:r>
              <a:rPr lang="en-US" sz="2400"/>
              <a:t>@c.ccall</a:t>
            </a:r>
            <a:endParaRPr lang="en-US" sz="2400"/>
          </a:p>
          <a:p>
            <a:pPr>
              <a:lnSpc>
                <a:spcPct val="100000"/>
              </a:lnSpc>
            </a:pPr>
            <a:r>
              <a:rPr lang="en-US" sz="2400">
                <a:solidFill>
                  <a:srgbClr val="7030A0"/>
                </a:solidFill>
                <a:sym typeface="+mn-ea"/>
              </a:rPr>
              <a:t>def </a:t>
            </a:r>
            <a:r>
              <a:rPr lang="en-US" sz="2400">
                <a:solidFill>
                  <a:srgbClr val="FF0000"/>
                </a:solidFill>
              </a:rPr>
              <a:t>testFactorial</a:t>
            </a:r>
            <a:r>
              <a:rPr lang="en-US" sz="2400"/>
              <a:t>(</a:t>
            </a:r>
            <a:r>
              <a:rPr lang="en-US" sz="2400">
                <a:solidFill>
                  <a:srgbClr val="FF6600"/>
                </a:solidFill>
              </a:rPr>
              <a:t>n</a:t>
            </a:r>
            <a:r>
              <a:rPr lang="en-US" sz="2400"/>
              <a:t>: c.int, </a:t>
            </a:r>
            <a:r>
              <a:rPr lang="en-US" sz="2400">
                <a:solidFill>
                  <a:srgbClr val="FF6600"/>
                </a:solidFill>
              </a:rPr>
              <a:t>x</a:t>
            </a:r>
            <a:r>
              <a:rPr lang="en-US" sz="2400"/>
              <a:t>: c.int) -&gt; c.void:</a:t>
            </a:r>
            <a:endParaRPr lang="en-US" sz="2400"/>
          </a:p>
          <a:p>
            <a:pPr>
              <a:lnSpc>
                <a:spcPct val="100000"/>
              </a:lnSpc>
            </a:pPr>
            <a:r>
              <a:rPr lang="en-US" sz="2400"/>
              <a:t>    </a:t>
            </a:r>
            <a:r>
              <a:rPr lang="en-US" sz="2400">
                <a:solidFill>
                  <a:srgbClr val="7030A0"/>
                </a:solidFill>
              </a:rPr>
              <a:t>for </a:t>
            </a:r>
            <a:r>
              <a:rPr lang="en-US" sz="2400"/>
              <a:t>_ </a:t>
            </a:r>
            <a:r>
              <a:rPr lang="en-US" sz="2400">
                <a:solidFill>
                  <a:srgbClr val="7030A0"/>
                </a:solidFill>
              </a:rPr>
              <a:t>in </a:t>
            </a:r>
            <a:r>
              <a:rPr lang="en-US" sz="2400"/>
              <a:t>range(n):</a:t>
            </a:r>
            <a:endParaRPr lang="en-US" sz="2400"/>
          </a:p>
          <a:p>
            <a:pPr>
              <a:lnSpc>
                <a:spcPct val="100000"/>
              </a:lnSpc>
            </a:pPr>
            <a:r>
              <a:rPr lang="en-US" sz="2400"/>
              <a:t>        factorial(x)</a:t>
            </a:r>
            <a:endParaRPr lang="en-US" sz="2400"/>
          </a:p>
        </p:txBody>
      </p:sp>
      <p:sp>
        <p:nvSpPr>
          <p:cNvPr id="4" name="Text Box 3"/>
          <p:cNvSpPr txBox="1"/>
          <p:nvPr/>
        </p:nvSpPr>
        <p:spPr>
          <a:xfrm>
            <a:off x="7134225" y="1228725"/>
            <a:ext cx="3981450" cy="3046095"/>
          </a:xfrm>
          <a:prstGeom prst="rect">
            <a:avLst/>
          </a:prstGeom>
          <a:noFill/>
        </p:spPr>
        <p:txBody>
          <a:bodyPr wrap="square" rtlCol="0">
            <a:spAutoFit/>
          </a:bodyPr>
          <a:p>
            <a:r>
              <a:rPr lang="pt-PT" altLang="en-US" sz="3200"/>
              <a:t>Tempos:</a:t>
            </a:r>
            <a:endParaRPr lang="pt-PT" altLang="en-US" sz="3200"/>
          </a:p>
          <a:p>
            <a:pPr marL="457200" indent="-457200">
              <a:buFont typeface="Arial" panose="020B0604020202020204" pitchFamily="34" charset="0"/>
              <a:buChar char="•"/>
            </a:pPr>
            <a:r>
              <a:rPr lang="pt-PT" altLang="en-US" sz="3200"/>
              <a:t>g++ -O0: 1.794s</a:t>
            </a:r>
            <a:endParaRPr lang="pt-PT" altLang="en-US" sz="3200"/>
          </a:p>
          <a:p>
            <a:pPr marL="457200" indent="-457200">
              <a:buFont typeface="Arial" panose="020B0604020202020204" pitchFamily="34" charset="0"/>
              <a:buChar char="•"/>
            </a:pPr>
            <a:endParaRPr lang="pt-PT" altLang="en-US" sz="3200"/>
          </a:p>
          <a:p>
            <a:pPr marL="457200" indent="-457200">
              <a:buFont typeface="Arial" panose="020B0604020202020204" pitchFamily="34" charset="0"/>
              <a:buChar char="•"/>
            </a:pPr>
            <a:r>
              <a:rPr lang="pt-PT" altLang="en-US" sz="3200"/>
              <a:t>python: </a:t>
            </a:r>
            <a:r>
              <a:rPr lang="pt-PT" altLang="en-US" sz="3200">
                <a:sym typeface="+mn-ea"/>
              </a:rPr>
              <a:t>x</a:t>
            </a:r>
            <a:r>
              <a:rPr lang="pt-PT" altLang="en-US" sz="3200">
                <a:sym typeface="+mn-ea"/>
              </a:rPr>
              <a:t>.xxxs</a:t>
            </a:r>
            <a:endParaRPr lang="pt-PT" altLang="en-US" sz="3200">
              <a:sym typeface="+mn-ea"/>
            </a:endParaRPr>
          </a:p>
          <a:p>
            <a:pPr marL="457200" indent="-457200">
              <a:buFont typeface="Arial" panose="020B0604020202020204" pitchFamily="34" charset="0"/>
              <a:buChar char="•"/>
            </a:pPr>
            <a:endParaRPr lang="pt-PT" altLang="en-US" sz="3200">
              <a:sym typeface="+mn-ea"/>
            </a:endParaRPr>
          </a:p>
          <a:p>
            <a:pPr marL="457200" indent="-457200">
              <a:buFont typeface="Arial" panose="020B0604020202020204" pitchFamily="34" charset="0"/>
              <a:buChar char="•"/>
            </a:pPr>
            <a:r>
              <a:rPr lang="pt-PT" altLang="en-US" sz="3200"/>
              <a:t>cpython: </a:t>
            </a:r>
            <a:r>
              <a:rPr lang="pt-PT" altLang="en-US" sz="3200">
                <a:sym typeface="+mn-ea"/>
              </a:rPr>
              <a:t>x</a:t>
            </a:r>
            <a:r>
              <a:rPr lang="pt-PT" altLang="en-US" sz="3200">
                <a:sym typeface="+mn-ea"/>
              </a:rPr>
              <a:t>.xxxs</a:t>
            </a:r>
            <a:endParaRPr lang="pt-PT" altLang="en-US" sz="3200">
              <a:sym typeface="+mn-ea"/>
            </a:endParaRPr>
          </a:p>
        </p:txBody>
      </p:sp>
      <p:sp>
        <p:nvSpPr>
          <p:cNvPr id="2" name="Text Box 1"/>
          <p:cNvSpPr txBox="1"/>
          <p:nvPr/>
        </p:nvSpPr>
        <p:spPr>
          <a:xfrm>
            <a:off x="11383645" y="304165"/>
            <a:ext cx="492125" cy="368300"/>
          </a:xfrm>
          <a:prstGeom prst="rect">
            <a:avLst/>
          </a:prstGeom>
          <a:noFill/>
        </p:spPr>
        <p:txBody>
          <a:bodyPr wrap="square" rtlCol="0">
            <a:spAutoFit/>
          </a:bodyPr>
          <a:p>
            <a:r>
              <a:rPr lang="pt-PT" altLang="en-US"/>
              <a:t>26</a:t>
            </a:r>
            <a:endParaRPr lang="pt-PT"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452755" y="285115"/>
            <a:ext cx="11287125" cy="706755"/>
          </a:xfrm>
          <a:prstGeom prst="rect">
            <a:avLst/>
          </a:prstGeom>
          <a:noFill/>
        </p:spPr>
        <p:txBody>
          <a:bodyPr wrap="square" rtlCol="0">
            <a:spAutoFit/>
          </a:bodyPr>
          <a:p>
            <a:r>
              <a:rPr lang="pt-PT" altLang="en-US" sz="4000">
                <a:solidFill>
                  <a:schemeClr val="tx1"/>
                </a:solidFill>
                <a:effectLst>
                  <a:outerShdw blurRad="38100" dist="19050" dir="2700000" algn="tl" rotWithShape="0">
                    <a:schemeClr val="dk1">
                      <a:alpha val="40000"/>
                    </a:schemeClr>
                  </a:outerShdw>
                </a:effectLst>
              </a:rPr>
              <a:t>Scripting: Making it faster with Cython</a:t>
            </a:r>
            <a:endParaRPr lang="pt-PT" altLang="en-US" sz="4000">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452755" y="991870"/>
            <a:ext cx="6000750" cy="526224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p>
            <a:pPr>
              <a:lnSpc>
                <a:spcPct val="100000"/>
              </a:lnSpc>
            </a:pPr>
            <a:r>
              <a:rPr lang="en-US" sz="2400">
                <a:solidFill>
                  <a:srgbClr val="7030A0"/>
                </a:solidFill>
              </a:rPr>
              <a:t>import </a:t>
            </a:r>
            <a:r>
              <a:rPr lang="en-US" sz="2400"/>
              <a:t>cython </a:t>
            </a:r>
            <a:r>
              <a:rPr lang="en-US" sz="2400">
                <a:solidFill>
                  <a:srgbClr val="7030A0"/>
                </a:solidFill>
              </a:rPr>
              <a:t>as </a:t>
            </a:r>
            <a:r>
              <a:rPr lang="en-US" sz="2400"/>
              <a:t>c</a:t>
            </a:r>
            <a:endParaRPr lang="en-US" sz="2400"/>
          </a:p>
          <a:p>
            <a:pPr>
              <a:lnSpc>
                <a:spcPct val="100000"/>
              </a:lnSpc>
            </a:pPr>
            <a:endParaRPr lang="en-US" sz="2400"/>
          </a:p>
          <a:p>
            <a:pPr>
              <a:lnSpc>
                <a:spcPct val="100000"/>
              </a:lnSpc>
            </a:pPr>
            <a:r>
              <a:rPr lang="en-US" sz="2400"/>
              <a:t>@c.ccall</a:t>
            </a:r>
            <a:endParaRPr lang="en-US" sz="2400"/>
          </a:p>
          <a:p>
            <a:pPr>
              <a:lnSpc>
                <a:spcPct val="100000"/>
              </a:lnSpc>
            </a:pPr>
            <a:r>
              <a:rPr lang="en-US" sz="2400">
                <a:solidFill>
                  <a:srgbClr val="7030A0"/>
                </a:solidFill>
              </a:rPr>
              <a:t>def </a:t>
            </a:r>
            <a:r>
              <a:rPr lang="en-US" sz="2400">
                <a:solidFill>
                  <a:srgbClr val="FF0000"/>
                </a:solidFill>
              </a:rPr>
              <a:t>factorial</a:t>
            </a:r>
            <a:r>
              <a:rPr lang="en-US" sz="2400"/>
              <a:t>(</a:t>
            </a:r>
            <a:r>
              <a:rPr lang="en-US" sz="2400">
                <a:solidFill>
                  <a:srgbClr val="FF6600"/>
                </a:solidFill>
              </a:rPr>
              <a:t>x</a:t>
            </a:r>
            <a:r>
              <a:rPr lang="en-US" sz="2400"/>
              <a:t>: c.int) -&gt; c.int:</a:t>
            </a:r>
            <a:endParaRPr lang="en-US" sz="2400"/>
          </a:p>
          <a:p>
            <a:pPr>
              <a:lnSpc>
                <a:spcPct val="100000"/>
              </a:lnSpc>
            </a:pPr>
            <a:r>
              <a:rPr lang="en-US" sz="2400"/>
              <a:t>    f: c.int </a:t>
            </a:r>
            <a:r>
              <a:rPr lang="en-US" sz="2400">
                <a:solidFill>
                  <a:srgbClr val="7030A0"/>
                </a:solidFill>
              </a:rPr>
              <a:t>=</a:t>
            </a:r>
            <a:r>
              <a:rPr lang="en-US" sz="2400"/>
              <a:t> 1</a:t>
            </a:r>
            <a:endParaRPr lang="en-US" sz="2400"/>
          </a:p>
          <a:p>
            <a:pPr>
              <a:lnSpc>
                <a:spcPct val="100000"/>
              </a:lnSpc>
            </a:pPr>
            <a:r>
              <a:rPr lang="en-US" sz="2400"/>
              <a:t>    i: c.int</a:t>
            </a:r>
            <a:endParaRPr lang="en-US" sz="2400"/>
          </a:p>
          <a:p>
            <a:pPr>
              <a:lnSpc>
                <a:spcPct val="100000"/>
              </a:lnSpc>
            </a:pPr>
            <a:r>
              <a:rPr lang="en-US" sz="2400"/>
              <a:t>    </a:t>
            </a:r>
            <a:r>
              <a:rPr lang="en-US" sz="2400">
                <a:solidFill>
                  <a:srgbClr val="7030A0"/>
                </a:solidFill>
              </a:rPr>
              <a:t>for </a:t>
            </a:r>
            <a:r>
              <a:rPr lang="en-US" sz="2400"/>
              <a:t>i </a:t>
            </a:r>
            <a:r>
              <a:rPr lang="en-US" sz="2400">
                <a:solidFill>
                  <a:srgbClr val="7030A0"/>
                </a:solidFill>
              </a:rPr>
              <a:t>in </a:t>
            </a:r>
            <a:r>
              <a:rPr lang="en-US" sz="2400"/>
              <a:t>range(x):</a:t>
            </a:r>
            <a:endParaRPr lang="en-US" sz="2400"/>
          </a:p>
          <a:p>
            <a:pPr>
              <a:lnSpc>
                <a:spcPct val="100000"/>
              </a:lnSpc>
            </a:pPr>
            <a:r>
              <a:rPr lang="en-US" sz="2400"/>
              <a:t>        f </a:t>
            </a:r>
            <a:r>
              <a:rPr lang="en-US" sz="2400">
                <a:solidFill>
                  <a:srgbClr val="7030A0"/>
                </a:solidFill>
              </a:rPr>
              <a:t>*=</a:t>
            </a:r>
            <a:r>
              <a:rPr lang="en-US" sz="2400"/>
              <a:t> x</a:t>
            </a:r>
            <a:r>
              <a:rPr lang="en-US" sz="2400">
                <a:solidFill>
                  <a:srgbClr val="7030A0"/>
                </a:solidFill>
              </a:rPr>
              <a:t> -</a:t>
            </a:r>
            <a:r>
              <a:rPr lang="en-US" sz="2400"/>
              <a:t> i</a:t>
            </a:r>
            <a:endParaRPr lang="en-US" sz="2400"/>
          </a:p>
          <a:p>
            <a:pPr>
              <a:lnSpc>
                <a:spcPct val="100000"/>
              </a:lnSpc>
            </a:pPr>
            <a:r>
              <a:rPr lang="en-US" sz="2400"/>
              <a:t>    </a:t>
            </a:r>
            <a:r>
              <a:rPr lang="en-US" sz="2400">
                <a:solidFill>
                  <a:srgbClr val="7030A0"/>
                </a:solidFill>
              </a:rPr>
              <a:t>return </a:t>
            </a:r>
            <a:r>
              <a:rPr lang="en-US" sz="2400"/>
              <a:t>f</a:t>
            </a:r>
            <a:endParaRPr lang="en-US" sz="2400"/>
          </a:p>
          <a:p>
            <a:pPr>
              <a:lnSpc>
                <a:spcPct val="100000"/>
              </a:lnSpc>
            </a:pPr>
            <a:endParaRPr lang="en-US" sz="2400"/>
          </a:p>
          <a:p>
            <a:pPr>
              <a:lnSpc>
                <a:spcPct val="100000"/>
              </a:lnSpc>
            </a:pPr>
            <a:r>
              <a:rPr lang="en-US" sz="2400"/>
              <a:t>@c.ccall</a:t>
            </a:r>
            <a:endParaRPr lang="en-US" sz="2400"/>
          </a:p>
          <a:p>
            <a:pPr>
              <a:lnSpc>
                <a:spcPct val="100000"/>
              </a:lnSpc>
            </a:pPr>
            <a:r>
              <a:rPr lang="en-US" sz="2400">
                <a:solidFill>
                  <a:srgbClr val="7030A0"/>
                </a:solidFill>
                <a:sym typeface="+mn-ea"/>
              </a:rPr>
              <a:t>def </a:t>
            </a:r>
            <a:r>
              <a:rPr lang="en-US" sz="2400">
                <a:solidFill>
                  <a:srgbClr val="FF0000"/>
                </a:solidFill>
              </a:rPr>
              <a:t>testFactorial</a:t>
            </a:r>
            <a:r>
              <a:rPr lang="en-US" sz="2400"/>
              <a:t>(</a:t>
            </a:r>
            <a:r>
              <a:rPr lang="en-US" sz="2400">
                <a:solidFill>
                  <a:srgbClr val="FF6600"/>
                </a:solidFill>
              </a:rPr>
              <a:t>n</a:t>
            </a:r>
            <a:r>
              <a:rPr lang="en-US" sz="2400"/>
              <a:t>: c.int, </a:t>
            </a:r>
            <a:r>
              <a:rPr lang="en-US" sz="2400">
                <a:solidFill>
                  <a:srgbClr val="FF6600"/>
                </a:solidFill>
              </a:rPr>
              <a:t>x</a:t>
            </a:r>
            <a:r>
              <a:rPr lang="en-US" sz="2400"/>
              <a:t>: c.int) -&gt; c.void:</a:t>
            </a:r>
            <a:endParaRPr lang="en-US" sz="2400"/>
          </a:p>
          <a:p>
            <a:pPr>
              <a:lnSpc>
                <a:spcPct val="100000"/>
              </a:lnSpc>
            </a:pPr>
            <a:r>
              <a:rPr lang="en-US" sz="2400"/>
              <a:t>    </a:t>
            </a:r>
            <a:r>
              <a:rPr lang="en-US" sz="2400">
                <a:solidFill>
                  <a:srgbClr val="7030A0"/>
                </a:solidFill>
              </a:rPr>
              <a:t>for </a:t>
            </a:r>
            <a:r>
              <a:rPr lang="en-US" sz="2400"/>
              <a:t>_ </a:t>
            </a:r>
            <a:r>
              <a:rPr lang="en-US" sz="2400">
                <a:solidFill>
                  <a:srgbClr val="7030A0"/>
                </a:solidFill>
              </a:rPr>
              <a:t>in </a:t>
            </a:r>
            <a:r>
              <a:rPr lang="en-US" sz="2400"/>
              <a:t>range(n):</a:t>
            </a:r>
            <a:endParaRPr lang="en-US" sz="2400"/>
          </a:p>
          <a:p>
            <a:pPr>
              <a:lnSpc>
                <a:spcPct val="100000"/>
              </a:lnSpc>
            </a:pPr>
            <a:r>
              <a:rPr lang="en-US" sz="2400"/>
              <a:t>        factorial(x)</a:t>
            </a:r>
            <a:endParaRPr lang="en-US" sz="2400"/>
          </a:p>
        </p:txBody>
      </p:sp>
      <p:sp>
        <p:nvSpPr>
          <p:cNvPr id="4" name="Text Box 3"/>
          <p:cNvSpPr txBox="1"/>
          <p:nvPr/>
        </p:nvSpPr>
        <p:spPr>
          <a:xfrm>
            <a:off x="7134225" y="1228725"/>
            <a:ext cx="3981450" cy="3046095"/>
          </a:xfrm>
          <a:prstGeom prst="rect">
            <a:avLst/>
          </a:prstGeom>
          <a:noFill/>
        </p:spPr>
        <p:txBody>
          <a:bodyPr wrap="square" rtlCol="0">
            <a:spAutoFit/>
          </a:bodyPr>
          <a:p>
            <a:r>
              <a:rPr lang="pt-PT" altLang="en-US" sz="3200">
                <a:sym typeface="+mn-ea"/>
              </a:rPr>
              <a:t>Tempos:</a:t>
            </a:r>
            <a:endParaRPr lang="pt-PT" altLang="en-US" sz="3200"/>
          </a:p>
          <a:p>
            <a:pPr marL="457200" indent="-457200">
              <a:buFont typeface="Arial" panose="020B0604020202020204" pitchFamily="34" charset="0"/>
              <a:buChar char="•"/>
            </a:pPr>
            <a:r>
              <a:rPr lang="pt-PT" altLang="en-US" sz="3200">
                <a:sym typeface="+mn-ea"/>
              </a:rPr>
              <a:t>g++ -O0: 1.794s</a:t>
            </a:r>
            <a:endParaRPr lang="pt-PT" altLang="en-US" sz="3200"/>
          </a:p>
          <a:p>
            <a:pPr marL="457200" indent="-457200">
              <a:buFont typeface="Arial" panose="020B0604020202020204" pitchFamily="34" charset="0"/>
              <a:buChar char="•"/>
            </a:pPr>
            <a:endParaRPr lang="pt-PT" altLang="en-US" sz="3200"/>
          </a:p>
          <a:p>
            <a:pPr marL="457200" indent="-457200">
              <a:buFont typeface="Arial" panose="020B0604020202020204" pitchFamily="34" charset="0"/>
              <a:buChar char="•"/>
            </a:pPr>
            <a:r>
              <a:rPr lang="pt-PT" altLang="en-US" sz="3200">
                <a:sym typeface="+mn-ea"/>
              </a:rPr>
              <a:t>python: </a:t>
            </a:r>
            <a:r>
              <a:rPr lang="pt-PT" altLang="en-US" sz="3200">
                <a:sym typeface="+mn-ea"/>
              </a:rPr>
              <a:t>224.333s</a:t>
            </a:r>
            <a:endParaRPr lang="pt-PT" altLang="en-US" sz="3200">
              <a:sym typeface="+mn-ea"/>
            </a:endParaRPr>
          </a:p>
          <a:p>
            <a:pPr marL="457200" indent="-457200">
              <a:buFont typeface="Arial" panose="020B0604020202020204" pitchFamily="34" charset="0"/>
              <a:buChar char="•"/>
            </a:pPr>
            <a:endParaRPr lang="pt-PT" altLang="en-US" sz="3200">
              <a:sym typeface="+mn-ea"/>
            </a:endParaRPr>
          </a:p>
          <a:p>
            <a:pPr marL="457200" indent="-457200">
              <a:buFont typeface="Arial" panose="020B0604020202020204" pitchFamily="34" charset="0"/>
              <a:buChar char="•"/>
            </a:pPr>
            <a:r>
              <a:rPr lang="pt-PT" altLang="en-US" sz="3200">
                <a:sym typeface="+mn-ea"/>
              </a:rPr>
              <a:t>cpython: </a:t>
            </a:r>
            <a:r>
              <a:rPr lang="pt-PT" altLang="en-US" sz="3200">
                <a:sym typeface="+mn-ea"/>
              </a:rPr>
              <a:t>0.535s</a:t>
            </a:r>
            <a:endParaRPr lang="pt-PT" altLang="en-US" sz="3200">
              <a:sym typeface="+mn-ea"/>
            </a:endParaRPr>
          </a:p>
        </p:txBody>
      </p:sp>
      <p:sp>
        <p:nvSpPr>
          <p:cNvPr id="2" name="Text Box 1"/>
          <p:cNvSpPr txBox="1"/>
          <p:nvPr/>
        </p:nvSpPr>
        <p:spPr>
          <a:xfrm>
            <a:off x="11383645" y="304165"/>
            <a:ext cx="492125" cy="368300"/>
          </a:xfrm>
          <a:prstGeom prst="rect">
            <a:avLst/>
          </a:prstGeom>
          <a:noFill/>
        </p:spPr>
        <p:txBody>
          <a:bodyPr wrap="square" rtlCol="0">
            <a:spAutoFit/>
          </a:bodyPr>
          <a:p>
            <a:r>
              <a:rPr lang="pt-PT" altLang="en-US"/>
              <a:t>27</a:t>
            </a:r>
            <a:endParaRPr lang="pt-PT"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490220" y="513715"/>
            <a:ext cx="4391660" cy="829945"/>
          </a:xfrm>
          <a:prstGeom prst="rect">
            <a:avLst/>
          </a:prstGeom>
          <a:noFill/>
        </p:spPr>
        <p:txBody>
          <a:bodyPr wrap="square" rtlCol="0">
            <a:spAutoFit/>
          </a:bodyPr>
          <a:p>
            <a:r>
              <a:rPr lang="pt-PT" altLang="en-US" sz="4800">
                <a:solidFill>
                  <a:schemeClr val="tx1"/>
                </a:solidFill>
                <a:effectLst>
                  <a:outerShdw blurRad="38100" dist="19050" dir="2700000" algn="tl" rotWithShape="0">
                    <a:schemeClr val="dk1">
                      <a:alpha val="40000"/>
                    </a:schemeClr>
                  </a:outerShdw>
                </a:effectLst>
              </a:rPr>
              <a:t>References</a:t>
            </a:r>
            <a:endParaRPr lang="pt-PT" altLang="en-US" sz="4800">
              <a:solidFill>
                <a:schemeClr val="tx1"/>
              </a:solidFill>
              <a:effectLst>
                <a:outerShdw blurRad="38100" dist="19050" dir="2700000" algn="tl" rotWithShape="0">
                  <a:schemeClr val="dk1">
                    <a:alpha val="40000"/>
                  </a:schemeClr>
                </a:outerShdw>
              </a:effectLst>
            </a:endParaRPr>
          </a:p>
        </p:txBody>
      </p:sp>
      <p:sp>
        <p:nvSpPr>
          <p:cNvPr id="2" name="Text Box 1"/>
          <p:cNvSpPr txBox="1"/>
          <p:nvPr/>
        </p:nvSpPr>
        <p:spPr>
          <a:xfrm>
            <a:off x="561975" y="1343025"/>
            <a:ext cx="11010900" cy="4799965"/>
          </a:xfrm>
          <a:prstGeom prst="rect">
            <a:avLst/>
          </a:prstGeom>
          <a:noFill/>
        </p:spPr>
        <p:txBody>
          <a:bodyPr wrap="square" rtlCol="0">
            <a:spAutoFit/>
          </a:bodyPr>
          <a:p>
            <a:r>
              <a:rPr lang="en-US"/>
              <a:t>[1] R. E. Bryant and D. R. O’Hallaron, Computer systems: a programmer’s perspective, 2. ed. Boston, Mass.: Prentice Hall, 2011.</a:t>
            </a:r>
            <a:endParaRPr lang="en-US"/>
          </a:p>
          <a:p>
            <a:endParaRPr lang="en-US"/>
          </a:p>
          <a:p>
            <a:r>
              <a:rPr lang="en-US"/>
              <a:t>[2] M. Caini, skypjack/entt. (Oct. 23, 2024). C++. Accessed: Oct. 23, 2024. [Online]. Available: https://github.com/skypjack/entt</a:t>
            </a:r>
            <a:endParaRPr lang="en-US"/>
          </a:p>
          <a:p>
            <a:endParaRPr lang="en-US"/>
          </a:p>
          <a:p>
            <a:r>
              <a:rPr lang="en-US"/>
              <a:t>[3] V. Romeo, vittorioromeo/ecst. (Oct. 23, 2024). C++. Accessed: Oct. 23, 2024. [Online]. Available: https://github.com/vittorioromeo/ecst</a:t>
            </a:r>
            <a:endParaRPr lang="en-US"/>
          </a:p>
          <a:p>
            <a:endParaRPr lang="en-US"/>
          </a:p>
          <a:p>
            <a:r>
              <a:rPr lang="en-US"/>
              <a:t>[4] “Learn OpenGL, extensive tutorial resource for learning Modern OpenGL.” Accessed: Oct. 23, 2024. [Online]. Available: https://learnopengl.com/</a:t>
            </a:r>
            <a:endParaRPr lang="en-US"/>
          </a:p>
          <a:p>
            <a:endParaRPr lang="en-US"/>
          </a:p>
          <a:p>
            <a:r>
              <a:rPr lang="en-US"/>
              <a:t>[5] J. Gregory, Game engine architecture, Third edition. in An A.K. Peters book. Boca Raton London New York: CRC Press, Taylor &amp; Francis Group, 2019.</a:t>
            </a:r>
            <a:endParaRPr lang="en-US"/>
          </a:p>
          <a:p>
            <a:endParaRPr lang="en-US"/>
          </a:p>
          <a:p>
            <a:r>
              <a:rPr lang="en-US"/>
              <a:t>[6] K. Driesen and U. Hölzle, “The direct cost of virtual function calls in C++,” SIGPLAN Not., vol. 31, no. 10, pp. 306–323, Oct. 1996, doi: 10.1145/236338.236369.</a:t>
            </a:r>
            <a:endParaRPr lang="en-US"/>
          </a:p>
        </p:txBody>
      </p:sp>
    </p:spTree>
  </p:cSld>
  <p:clrMapOvr>
    <a:masterClrMapping/>
  </p:clrMapOvr>
  <mc:AlternateContent xmlns:mc="http://schemas.openxmlformats.org/markup-compatibility/2006">
    <mc:Choice xmlns:p14="http://schemas.microsoft.com/office/powerpoint/2010/main" Requires="p14">
      <p:transition spd="slow" p14:dur="3000"/>
    </mc:Choice>
    <mc:Fallback>
      <p:transition spd="slow"/>
    </mc:Fallback>
  </mc:AlternateContent>
</p:sld>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9757</Words>
  <Application>WPS Presentation</Application>
  <PresentationFormat>宽屏</PresentationFormat>
  <Paragraphs>447</Paragraphs>
  <Slides>29</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29</vt:i4>
      </vt:variant>
    </vt:vector>
  </HeadingPairs>
  <TitlesOfParts>
    <vt:vector size="36" baseType="lpstr">
      <vt:lpstr>Arial</vt:lpstr>
      <vt:lpstr>SimSun</vt:lpstr>
      <vt:lpstr>Wingdings</vt:lpstr>
      <vt:lpstr>微软雅黑</vt:lpstr>
      <vt:lpstr>Arial Unicode MS</vt:lpstr>
      <vt:lpstr>宋体</vt:lpstr>
      <vt:lpstr>Orange Waves</vt:lpstr>
      <vt:lpstr>Contributions to Entity Component System and Scripting in Game Engines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jaoschmidt</dc:creator>
  <cp:lastModifiedBy>jaoschmidt</cp:lastModifiedBy>
  <cp:revision>13</cp:revision>
  <dcterms:created xsi:type="dcterms:W3CDTF">2024-12-13T13:32:44Z</dcterms:created>
  <dcterms:modified xsi:type="dcterms:W3CDTF">2024-12-13T13:32:44Z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1033-11.1.0.11723</vt:lpwstr>
  </property>
  <property fmtid="{D5CDD505-2E9C-101B-9397-08002B2CF9AE}" pid="3" name="ICV">
    <vt:lpwstr/>
  </property>
</Properties>
</file>